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0" i="0">
                <a:solidFill>
                  <a:srgbClr val="EBF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EBFFF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0" i="0">
                <a:solidFill>
                  <a:srgbClr val="EBF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EBFFF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0" i="0">
                <a:solidFill>
                  <a:srgbClr val="EBF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0" i="0">
                <a:solidFill>
                  <a:srgbClr val="EBF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49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716843"/>
            <a:ext cx="11931650" cy="2540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0" i="0">
                <a:solidFill>
                  <a:srgbClr val="EBF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6041" y="4352850"/>
            <a:ext cx="10160000" cy="4694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EBFFF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83443" y="1587444"/>
            <a:ext cx="7934959" cy="2296160"/>
          </a:xfrm>
          <a:prstGeom prst="rect"/>
        </p:spPr>
        <p:txBody>
          <a:bodyPr wrap="square" lIns="0" tIns="278765" rIns="0" bIns="0" rtlCol="0" vert="horz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2195"/>
              </a:spcBef>
            </a:pPr>
            <a:r>
              <a:rPr dirty="0" sz="8300" spc="-520"/>
              <a:t>L</a:t>
            </a:r>
            <a:r>
              <a:rPr dirty="0" sz="8300" spc="-540"/>
              <a:t>o</a:t>
            </a:r>
            <a:r>
              <a:rPr dirty="0" sz="8300"/>
              <a:t>w</a:t>
            </a:r>
            <a:r>
              <a:rPr dirty="0" sz="8300" spc="-815"/>
              <a:t> </a:t>
            </a:r>
            <a:r>
              <a:rPr dirty="0" sz="8300" spc="-465"/>
              <a:t>A</a:t>
            </a:r>
            <a:r>
              <a:rPr dirty="0" sz="8300" spc="-375"/>
              <a:t>d</a:t>
            </a:r>
            <a:r>
              <a:rPr dirty="0" sz="8300" spc="-385"/>
              <a:t>o</a:t>
            </a:r>
            <a:r>
              <a:rPr dirty="0" sz="8300" spc="-455"/>
              <a:t>p</a:t>
            </a:r>
            <a:r>
              <a:rPr dirty="0" sz="8300" spc="-365"/>
              <a:t>t</a:t>
            </a:r>
            <a:r>
              <a:rPr dirty="0" sz="8300" spc="-385"/>
              <a:t>io</a:t>
            </a:r>
            <a:r>
              <a:rPr dirty="0" sz="8300" spc="35"/>
              <a:t>n</a:t>
            </a:r>
            <a:r>
              <a:rPr dirty="0" sz="8300" spc="-815"/>
              <a:t> </a:t>
            </a:r>
            <a:r>
              <a:rPr dirty="0" sz="8300" spc="-25"/>
              <a:t>Of </a:t>
            </a:r>
            <a:r>
              <a:rPr dirty="0" sz="8300" spc="-700"/>
              <a:t>R</a:t>
            </a:r>
            <a:r>
              <a:rPr dirty="0" sz="8300" spc="-545"/>
              <a:t>e</a:t>
            </a:r>
            <a:r>
              <a:rPr dirty="0" sz="8300" spc="-535"/>
              <a:t>n</a:t>
            </a:r>
            <a:r>
              <a:rPr dirty="0" sz="8300" spc="-670"/>
              <a:t>e</a:t>
            </a:r>
            <a:r>
              <a:rPr dirty="0" sz="8300" spc="-615"/>
              <a:t>w</a:t>
            </a:r>
            <a:r>
              <a:rPr dirty="0" sz="8300" spc="-565"/>
              <a:t>a</a:t>
            </a:r>
            <a:r>
              <a:rPr dirty="0" sz="8300" spc="-525"/>
              <a:t>b</a:t>
            </a:r>
            <a:r>
              <a:rPr dirty="0" sz="8300" spc="-535"/>
              <a:t>l</a:t>
            </a:r>
            <a:r>
              <a:rPr dirty="0" sz="8300" spc="-114"/>
              <a:t>e</a:t>
            </a:r>
            <a:r>
              <a:rPr dirty="0" sz="8300" spc="-790"/>
              <a:t> </a:t>
            </a:r>
            <a:r>
              <a:rPr dirty="0" sz="8300" spc="-610"/>
              <a:t>E</a:t>
            </a:r>
            <a:r>
              <a:rPr dirty="0" sz="8300" spc="-490"/>
              <a:t>n</a:t>
            </a:r>
            <a:r>
              <a:rPr dirty="0" sz="8300" spc="-500"/>
              <a:t>e</a:t>
            </a:r>
            <a:r>
              <a:rPr dirty="0" sz="8300" spc="-535"/>
              <a:t>r</a:t>
            </a:r>
            <a:r>
              <a:rPr dirty="0" sz="8300" spc="-545"/>
              <a:t>g</a:t>
            </a:r>
            <a:r>
              <a:rPr dirty="0" sz="8300" spc="-70"/>
              <a:t>y</a:t>
            </a:r>
            <a:endParaRPr sz="83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1028700"/>
            <a:ext cx="8115311" cy="42165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143" y="4757704"/>
            <a:ext cx="8115300" cy="507288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11464" y="4744614"/>
            <a:ext cx="4790440" cy="495935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4000" spc="-105" b="1">
                <a:solidFill>
                  <a:srgbClr val="EBFFF7"/>
                </a:solidFill>
                <a:latin typeface="Arial"/>
                <a:cs typeface="Arial"/>
              </a:rPr>
              <a:t>Presented</a:t>
            </a:r>
            <a:r>
              <a:rPr dirty="0" sz="4000" spc="-229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4000" spc="-25" b="1">
                <a:solidFill>
                  <a:srgbClr val="EBFFF7"/>
                </a:solidFill>
                <a:latin typeface="Arial"/>
                <a:cs typeface="Arial"/>
              </a:rPr>
              <a:t>by:</a:t>
            </a:r>
            <a:endParaRPr sz="4000">
              <a:latin typeface="Arial"/>
              <a:cs typeface="Arial"/>
            </a:endParaRPr>
          </a:p>
          <a:p>
            <a:pPr marL="12700" marR="5080">
              <a:lnSpc>
                <a:spcPct val="115599"/>
              </a:lnSpc>
            </a:pPr>
            <a:r>
              <a:rPr dirty="0" sz="4000" spc="-120">
                <a:solidFill>
                  <a:srgbClr val="EBFFF7"/>
                </a:solidFill>
                <a:latin typeface="Arial MT"/>
                <a:cs typeface="Arial MT"/>
              </a:rPr>
              <a:t>Levin</a:t>
            </a:r>
            <a:r>
              <a:rPr dirty="0" sz="4000" spc="-16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105">
                <a:solidFill>
                  <a:srgbClr val="EBFFF7"/>
                </a:solidFill>
                <a:latin typeface="Arial MT"/>
                <a:cs typeface="Arial MT"/>
              </a:rPr>
              <a:t>George</a:t>
            </a:r>
            <a:r>
              <a:rPr dirty="0" sz="400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105">
                <a:solidFill>
                  <a:srgbClr val="EBFFF7"/>
                </a:solidFill>
                <a:latin typeface="Arial MT"/>
                <a:cs typeface="Arial MT"/>
              </a:rPr>
              <a:t>Thomas </a:t>
            </a:r>
            <a:r>
              <a:rPr dirty="0" sz="4000" spc="-135">
                <a:solidFill>
                  <a:srgbClr val="EBFFF7"/>
                </a:solidFill>
                <a:latin typeface="Arial MT"/>
                <a:cs typeface="Arial MT"/>
              </a:rPr>
              <a:t>Liana</a:t>
            </a:r>
            <a:r>
              <a:rPr dirty="0" sz="40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20">
                <a:solidFill>
                  <a:srgbClr val="EBFFF7"/>
                </a:solidFill>
                <a:latin typeface="Arial MT"/>
                <a:cs typeface="Arial MT"/>
              </a:rPr>
              <a:t>Roby</a:t>
            </a:r>
            <a:endParaRPr sz="4000">
              <a:latin typeface="Arial MT"/>
              <a:cs typeface="Arial MT"/>
            </a:endParaRPr>
          </a:p>
          <a:p>
            <a:pPr marL="12700" marR="114935">
              <a:lnSpc>
                <a:spcPct val="115599"/>
              </a:lnSpc>
            </a:pPr>
            <a:r>
              <a:rPr dirty="0" sz="4000">
                <a:solidFill>
                  <a:srgbClr val="EBFFF7"/>
                </a:solidFill>
                <a:latin typeface="Arial MT"/>
                <a:cs typeface="Arial MT"/>
              </a:rPr>
              <a:t>M</a:t>
            </a:r>
            <a:r>
              <a:rPr dirty="0" sz="400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150">
                <a:solidFill>
                  <a:srgbClr val="EBFFF7"/>
                </a:solidFill>
                <a:latin typeface="Arial MT"/>
                <a:cs typeface="Arial MT"/>
              </a:rPr>
              <a:t>Preksha</a:t>
            </a:r>
            <a:r>
              <a:rPr dirty="0" sz="40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10">
                <a:solidFill>
                  <a:srgbClr val="EBFFF7"/>
                </a:solidFill>
                <a:latin typeface="Arial MT"/>
                <a:cs typeface="Arial MT"/>
              </a:rPr>
              <a:t>Praveen </a:t>
            </a:r>
            <a:r>
              <a:rPr dirty="0" sz="4000" spc="-110">
                <a:solidFill>
                  <a:srgbClr val="EBFFF7"/>
                </a:solidFill>
                <a:latin typeface="Arial MT"/>
                <a:cs typeface="Arial MT"/>
              </a:rPr>
              <a:t>Maahir</a:t>
            </a:r>
            <a:r>
              <a:rPr dirty="0" sz="4000" spc="-16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105">
                <a:solidFill>
                  <a:srgbClr val="EBFFF7"/>
                </a:solidFill>
                <a:latin typeface="Arial MT"/>
                <a:cs typeface="Arial MT"/>
              </a:rPr>
              <a:t>Muhammadali </a:t>
            </a:r>
            <a:r>
              <a:rPr dirty="0" sz="4000" spc="-130">
                <a:solidFill>
                  <a:srgbClr val="EBFFF7"/>
                </a:solidFill>
                <a:latin typeface="Arial MT"/>
                <a:cs typeface="Arial MT"/>
              </a:rPr>
              <a:t>Maheswar</a:t>
            </a:r>
            <a:r>
              <a:rPr dirty="0" sz="4000" spc="-1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10">
                <a:solidFill>
                  <a:srgbClr val="EBFFF7"/>
                </a:solidFill>
                <a:latin typeface="Arial MT"/>
                <a:cs typeface="Arial MT"/>
              </a:rPr>
              <a:t>Prasad </a:t>
            </a:r>
            <a:r>
              <a:rPr dirty="0" sz="4000" spc="-145">
                <a:solidFill>
                  <a:srgbClr val="EBFFF7"/>
                </a:solidFill>
                <a:latin typeface="Arial MT"/>
                <a:cs typeface="Arial MT"/>
              </a:rPr>
              <a:t>Malavika</a:t>
            </a:r>
            <a:r>
              <a:rPr dirty="0" sz="4000" spc="-1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4000" spc="-10">
                <a:solidFill>
                  <a:srgbClr val="EBFFF7"/>
                </a:solidFill>
                <a:latin typeface="Arial MT"/>
                <a:cs typeface="Arial MT"/>
              </a:rPr>
              <a:t>Abhishek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9329" y="6098159"/>
            <a:ext cx="6179970" cy="119598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79329" y="8156157"/>
            <a:ext cx="6180455" cy="0"/>
          </a:xfrm>
          <a:custGeom>
            <a:avLst/>
            <a:gdLst/>
            <a:ahLst/>
            <a:cxnLst/>
            <a:rect l="l" t="t" r="r" b="b"/>
            <a:pathLst>
              <a:path w="6180455" h="0">
                <a:moveTo>
                  <a:pt x="0" y="0"/>
                </a:moveTo>
                <a:lnTo>
                  <a:pt x="6179970" y="0"/>
                </a:lnTo>
              </a:path>
            </a:pathLst>
          </a:custGeom>
          <a:ln w="9524">
            <a:solidFill>
              <a:srgbClr val="EBFFF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328737"/>
            <a:ext cx="7475940" cy="17971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36737" y="1500250"/>
            <a:ext cx="5059680" cy="1387475"/>
          </a:xfrm>
          <a:prstGeom prst="rect"/>
        </p:spPr>
        <p:txBody>
          <a:bodyPr wrap="square" lIns="0" tIns="173990" rIns="0" bIns="0" rtlCol="0" vert="horz">
            <a:spAutoFit/>
          </a:bodyPr>
          <a:lstStyle/>
          <a:p>
            <a:pPr marL="12700" marR="5080" indent="330835">
              <a:lnSpc>
                <a:spcPct val="78800"/>
              </a:lnSpc>
              <a:spcBef>
                <a:spcPts val="1370"/>
              </a:spcBef>
            </a:pPr>
            <a:r>
              <a:rPr dirty="0" sz="5000" spc="-125">
                <a:solidFill>
                  <a:srgbClr val="004954"/>
                </a:solidFill>
              </a:rPr>
              <a:t>Low</a:t>
            </a:r>
            <a:r>
              <a:rPr dirty="0" sz="5000" spc="-220">
                <a:solidFill>
                  <a:srgbClr val="004954"/>
                </a:solidFill>
              </a:rPr>
              <a:t> </a:t>
            </a:r>
            <a:r>
              <a:rPr dirty="0" sz="5000" spc="-80">
                <a:solidFill>
                  <a:srgbClr val="004954"/>
                </a:solidFill>
              </a:rPr>
              <a:t>Adoption</a:t>
            </a:r>
            <a:r>
              <a:rPr dirty="0" sz="5000" spc="-215">
                <a:solidFill>
                  <a:srgbClr val="004954"/>
                </a:solidFill>
              </a:rPr>
              <a:t> </a:t>
            </a:r>
            <a:r>
              <a:rPr dirty="0" sz="5000" spc="-25">
                <a:solidFill>
                  <a:srgbClr val="004954"/>
                </a:solidFill>
              </a:rPr>
              <a:t>of </a:t>
            </a:r>
            <a:r>
              <a:rPr dirty="0" sz="5000" spc="-195">
                <a:solidFill>
                  <a:srgbClr val="004954"/>
                </a:solidFill>
              </a:rPr>
              <a:t>Renewable</a:t>
            </a:r>
            <a:r>
              <a:rPr dirty="0" sz="5000" spc="-160">
                <a:solidFill>
                  <a:srgbClr val="004954"/>
                </a:solidFill>
              </a:rPr>
              <a:t> </a:t>
            </a:r>
            <a:r>
              <a:rPr dirty="0" sz="5000" spc="-120">
                <a:solidFill>
                  <a:srgbClr val="004954"/>
                </a:solidFill>
              </a:rPr>
              <a:t>Energy</a:t>
            </a:r>
            <a:endParaRPr sz="50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3037" y="1028700"/>
            <a:ext cx="5826276" cy="496134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28700" y="3844499"/>
            <a:ext cx="3878579" cy="0"/>
          </a:xfrm>
          <a:custGeom>
            <a:avLst/>
            <a:gdLst/>
            <a:ahLst/>
            <a:cxnLst/>
            <a:rect l="l" t="t" r="r" b="b"/>
            <a:pathLst>
              <a:path w="3878579" h="0">
                <a:moveTo>
                  <a:pt x="0" y="0"/>
                </a:moveTo>
                <a:lnTo>
                  <a:pt x="3878297" y="0"/>
                </a:lnTo>
              </a:path>
            </a:pathLst>
          </a:custGeom>
          <a:ln w="9524">
            <a:solidFill>
              <a:srgbClr val="EBF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51050" y="4535480"/>
            <a:ext cx="13113385" cy="5560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600" spc="-110" b="1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3600" spc="-2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45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3600" spc="-229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30" b="1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3600" spc="-229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Arial"/>
                <a:cs typeface="Arial"/>
              </a:rPr>
              <a:t>about?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3600">
              <a:latin typeface="Arial"/>
              <a:cs typeface="Arial"/>
            </a:endParaRPr>
          </a:p>
          <a:p>
            <a:pPr marL="12700" marR="707390">
              <a:lnSpc>
                <a:spcPct val="114900"/>
              </a:lnSpc>
            </a:pPr>
            <a:r>
              <a:rPr dirty="0" sz="3100" spc="-130">
                <a:solidFill>
                  <a:srgbClr val="FFFFFF"/>
                </a:solidFill>
                <a:latin typeface="Arial MT"/>
                <a:cs typeface="Arial MT"/>
              </a:rPr>
              <a:t>Renewable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FFFFFF"/>
                </a:solidFill>
                <a:latin typeface="Arial MT"/>
                <a:cs typeface="Arial MT"/>
              </a:rPr>
              <a:t>energy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FFFFFF"/>
                </a:solidFill>
                <a:latin typeface="Arial MT"/>
                <a:cs typeface="Arial MT"/>
              </a:rPr>
              <a:t>comes</a:t>
            </a:r>
            <a:r>
              <a:rPr dirty="0" sz="31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35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FFFFFF"/>
                </a:solidFill>
                <a:latin typeface="Arial MT"/>
                <a:cs typeface="Arial MT"/>
              </a:rPr>
              <a:t>sources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31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95">
                <a:solidFill>
                  <a:srgbClr val="FFFFFF"/>
                </a:solidFill>
                <a:latin typeface="Arial MT"/>
                <a:cs typeface="Arial MT"/>
              </a:rPr>
              <a:t>naturally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0">
                <a:solidFill>
                  <a:srgbClr val="FFFFFF"/>
                </a:solidFill>
                <a:latin typeface="Arial MT"/>
                <a:cs typeface="Arial MT"/>
              </a:rPr>
              <a:t>replenish</a:t>
            </a:r>
            <a:r>
              <a:rPr dirty="0" sz="31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sunlight, </a:t>
            </a:r>
            <a:r>
              <a:rPr dirty="0" sz="3100" spc="-80">
                <a:solidFill>
                  <a:srgbClr val="FFFFFF"/>
                </a:solidFill>
                <a:latin typeface="Arial MT"/>
                <a:cs typeface="Arial MT"/>
              </a:rPr>
              <a:t>wind,</a:t>
            </a:r>
            <a:r>
              <a:rPr dirty="0" sz="31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water,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0">
                <a:solidFill>
                  <a:srgbClr val="FFFFFF"/>
                </a:solidFill>
                <a:latin typeface="Arial MT"/>
                <a:cs typeface="Arial MT"/>
              </a:rPr>
              <a:t>geothermal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95">
                <a:solidFill>
                  <a:srgbClr val="FFFFFF"/>
                </a:solidFill>
                <a:latin typeface="Arial MT"/>
                <a:cs typeface="Arial MT"/>
              </a:rPr>
              <a:t>heat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biomass.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0">
                <a:solidFill>
                  <a:srgbClr val="FFFFFF"/>
                </a:solidFill>
                <a:latin typeface="Arial MT"/>
                <a:cs typeface="Arial MT"/>
              </a:rPr>
              <a:t>Unlike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0">
                <a:solidFill>
                  <a:srgbClr val="FFFFFF"/>
                </a:solidFill>
                <a:latin typeface="Arial MT"/>
                <a:cs typeface="Arial MT"/>
              </a:rPr>
              <a:t>coal,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FFFFFF"/>
                </a:solidFill>
                <a:latin typeface="Arial MT"/>
                <a:cs typeface="Arial MT"/>
              </a:rPr>
              <a:t>oil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35">
                <a:solidFill>
                  <a:srgbClr val="FFFFFF"/>
                </a:solidFill>
                <a:latin typeface="Arial MT"/>
                <a:cs typeface="Arial MT"/>
              </a:rPr>
              <a:t>gas,</a:t>
            </a: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20">
                <a:solidFill>
                  <a:srgbClr val="FFFFFF"/>
                </a:solidFill>
                <a:latin typeface="Arial MT"/>
                <a:cs typeface="Arial MT"/>
              </a:rPr>
              <a:t>they </a:t>
            </a:r>
            <a:r>
              <a:rPr dirty="0" sz="3100" spc="-40">
                <a:solidFill>
                  <a:srgbClr val="FFFFFF"/>
                </a:solidFill>
                <a:latin typeface="Arial MT"/>
                <a:cs typeface="Arial MT"/>
              </a:rPr>
              <a:t>produce</a:t>
            </a:r>
            <a:r>
              <a:rPr dirty="0" sz="3100" spc="-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35">
                <a:solidFill>
                  <a:srgbClr val="FFFFFF"/>
                </a:solidFill>
                <a:latin typeface="Arial MT"/>
                <a:cs typeface="Arial MT"/>
              </a:rPr>
              <a:t>little</a:t>
            </a:r>
            <a:r>
              <a:rPr dirty="0" sz="3100" spc="-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310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3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dirty="0" sz="31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0">
                <a:solidFill>
                  <a:srgbClr val="FFFFFF"/>
                </a:solidFill>
                <a:latin typeface="Arial MT"/>
                <a:cs typeface="Arial MT"/>
              </a:rPr>
              <a:t>greenhouse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emissions.</a:t>
            </a:r>
            <a:endParaRPr sz="3100">
              <a:latin typeface="Arial MT"/>
              <a:cs typeface="Arial MT"/>
            </a:endParaRPr>
          </a:p>
          <a:p>
            <a:pPr marL="12700" marR="231775">
              <a:lnSpc>
                <a:spcPct val="114900"/>
              </a:lnSpc>
            </a:pPr>
            <a:r>
              <a:rPr dirty="0" sz="3100" spc="-90">
                <a:solidFill>
                  <a:srgbClr val="FFFFFF"/>
                </a:solidFill>
                <a:latin typeface="Arial MT"/>
                <a:cs typeface="Arial MT"/>
              </a:rPr>
              <a:t>Despite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FFFFFF"/>
                </a:solidFill>
                <a:latin typeface="Arial MT"/>
                <a:cs typeface="Arial MT"/>
              </a:rPr>
              <a:t>clear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FFFFFF"/>
                </a:solidFill>
                <a:latin typeface="Arial MT"/>
                <a:cs typeface="Arial MT"/>
              </a:rPr>
              <a:t>benefits,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FFFFFF"/>
                </a:solidFill>
                <a:latin typeface="Arial MT"/>
                <a:cs typeface="Arial MT"/>
              </a:rPr>
              <a:t>adoption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95">
                <a:solidFill>
                  <a:srgbClr val="FFFFFF"/>
                </a:solidFill>
                <a:latin typeface="Arial MT"/>
                <a:cs typeface="Arial MT"/>
              </a:rPr>
              <a:t>remains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FFFFFF"/>
                </a:solidFill>
                <a:latin typeface="Arial MT"/>
                <a:cs typeface="Arial MT"/>
              </a:rPr>
              <a:t>low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90">
                <a:solidFill>
                  <a:srgbClr val="FFFFFF"/>
                </a:solidFill>
                <a:latin typeface="Arial MT"/>
                <a:cs typeface="Arial MT"/>
              </a:rPr>
              <a:t>many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90">
                <a:solidFill>
                  <a:srgbClr val="FFFFFF"/>
                </a:solidFill>
                <a:latin typeface="Arial MT"/>
                <a:cs typeface="Arial MT"/>
              </a:rPr>
              <a:t>regions.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dirty="0" sz="31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upfront </a:t>
            </a:r>
            <a:r>
              <a:rPr dirty="0" sz="3100" spc="-95">
                <a:solidFill>
                  <a:srgbClr val="FFFFFF"/>
                </a:solidFill>
                <a:latin typeface="Arial MT"/>
                <a:cs typeface="Arial MT"/>
              </a:rPr>
              <a:t>costs,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weak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FFFFFF"/>
                </a:solidFill>
                <a:latin typeface="Arial MT"/>
                <a:cs typeface="Arial MT"/>
              </a:rPr>
              <a:t>infrastructure,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10">
                <a:solidFill>
                  <a:srgbClr val="FFFFFF"/>
                </a:solidFill>
                <a:latin typeface="Arial MT"/>
                <a:cs typeface="Arial MT"/>
              </a:rPr>
              <a:t>gaps,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FFFFFF"/>
                </a:solidFill>
                <a:latin typeface="Arial MT"/>
                <a:cs typeface="Arial MT"/>
              </a:rPr>
              <a:t>dependence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3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95">
                <a:solidFill>
                  <a:srgbClr val="FFFFFF"/>
                </a:solidFill>
                <a:latin typeface="Arial MT"/>
                <a:cs typeface="Arial MT"/>
              </a:rPr>
              <a:t>established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fossil-</a:t>
            </a:r>
            <a:r>
              <a:rPr dirty="0" sz="3100" spc="-60">
                <a:solidFill>
                  <a:srgbClr val="FFFFFF"/>
                </a:solidFill>
                <a:latin typeface="Arial MT"/>
                <a:cs typeface="Arial MT"/>
              </a:rPr>
              <a:t>fuel</a:t>
            </a:r>
            <a:r>
              <a:rPr dirty="0" sz="31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10">
                <a:solidFill>
                  <a:srgbClr val="FFFFFF"/>
                </a:solidFill>
                <a:latin typeface="Arial MT"/>
                <a:cs typeface="Arial MT"/>
              </a:rPr>
              <a:t>systems</a:t>
            </a:r>
            <a:r>
              <a:rPr dirty="0" sz="3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0">
                <a:solidFill>
                  <a:srgbClr val="FFFFFF"/>
                </a:solidFill>
                <a:latin typeface="Arial MT"/>
                <a:cs typeface="Arial MT"/>
              </a:rPr>
              <a:t>slow</a:t>
            </a:r>
            <a:r>
              <a:rPr dirty="0" sz="31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3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transition.</a:t>
            </a:r>
            <a:endParaRPr sz="3100">
              <a:latin typeface="Arial MT"/>
              <a:cs typeface="Arial MT"/>
            </a:endParaRPr>
          </a:p>
          <a:p>
            <a:pPr marL="12700" marR="5080">
              <a:lnSpc>
                <a:spcPct val="114900"/>
              </a:lnSpc>
              <a:spcBef>
                <a:spcPts val="5"/>
              </a:spcBef>
            </a:pPr>
            <a:r>
              <a:rPr dirty="0" sz="3100" spc="-105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0">
                <a:solidFill>
                  <a:srgbClr val="FFFFFF"/>
                </a:solidFill>
                <a:latin typeface="Arial MT"/>
                <a:cs typeface="Arial MT"/>
              </a:rPr>
              <a:t>presentation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10">
                <a:solidFill>
                  <a:srgbClr val="FFFFFF"/>
                </a:solidFill>
                <a:latin typeface="Arial MT"/>
                <a:cs typeface="Arial MT"/>
              </a:rPr>
              <a:t>examines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55">
                <a:solidFill>
                  <a:srgbClr val="FFFFFF"/>
                </a:solidFill>
                <a:latin typeface="Arial MT"/>
                <a:cs typeface="Arial MT"/>
              </a:rPr>
              <a:t>barriers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95">
                <a:solidFill>
                  <a:srgbClr val="FFFFFF"/>
                </a:solidFill>
                <a:latin typeface="Arial MT"/>
                <a:cs typeface="Arial MT"/>
              </a:rPr>
              <a:t>renewable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FFFFFF"/>
                </a:solidFill>
                <a:latin typeface="Arial MT"/>
                <a:cs typeface="Arial MT"/>
              </a:rPr>
              <a:t>energy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FFFFFF"/>
                </a:solidFill>
                <a:latin typeface="Arial MT"/>
                <a:cs typeface="Arial MT"/>
              </a:rPr>
              <a:t>adoption</a:t>
            </a:r>
            <a:r>
              <a:rPr dirty="0" sz="31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1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25">
                <a:solidFill>
                  <a:srgbClr val="FFFFFF"/>
                </a:solidFill>
                <a:latin typeface="Arial MT"/>
                <a:cs typeface="Arial MT"/>
              </a:rPr>
              <a:t>why </a:t>
            </a:r>
            <a:r>
              <a:rPr dirty="0" sz="3100" spc="-75">
                <a:solidFill>
                  <a:srgbClr val="FFFFFF"/>
                </a:solidFill>
                <a:latin typeface="Arial MT"/>
                <a:cs typeface="Arial MT"/>
              </a:rPr>
              <a:t>speeding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up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FFFFFF"/>
                </a:solidFill>
                <a:latin typeface="Arial MT"/>
                <a:cs typeface="Arial MT"/>
              </a:rPr>
              <a:t>matters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2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3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0">
                <a:solidFill>
                  <a:srgbClr val="FFFFFF"/>
                </a:solidFill>
                <a:latin typeface="Arial MT"/>
                <a:cs typeface="Arial MT"/>
              </a:rPr>
              <a:t>sustainable</a:t>
            </a:r>
            <a:r>
              <a:rPr dirty="0" sz="3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future.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664246"/>
            <a:ext cx="10268585" cy="2401570"/>
          </a:xfrm>
          <a:prstGeom prst="rect"/>
        </p:spPr>
        <p:txBody>
          <a:bodyPr wrap="square" lIns="0" tIns="297180" rIns="0" bIns="0" rtlCol="0" vert="horz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2340"/>
              </a:spcBef>
            </a:pPr>
            <a:r>
              <a:rPr dirty="0" sz="8700" spc="-530"/>
              <a:t>SDG</a:t>
            </a:r>
            <a:r>
              <a:rPr dirty="0" sz="8700" spc="-905"/>
              <a:t> </a:t>
            </a:r>
            <a:r>
              <a:rPr dirty="0" sz="8700"/>
              <a:t>7</a:t>
            </a:r>
            <a:r>
              <a:rPr dirty="0" sz="8700" spc="-890"/>
              <a:t> </a:t>
            </a:r>
            <a:r>
              <a:rPr dirty="0" sz="8700"/>
              <a:t>-</a:t>
            </a:r>
            <a:r>
              <a:rPr dirty="0" sz="8700" spc="-890"/>
              <a:t> </a:t>
            </a:r>
            <a:r>
              <a:rPr dirty="0" sz="8700" spc="-430"/>
              <a:t>Af</a:t>
            </a:r>
            <a:r>
              <a:rPr dirty="0" sz="8700" spc="-515"/>
              <a:t>f</a:t>
            </a:r>
            <a:r>
              <a:rPr dirty="0" sz="8700" spc="-430"/>
              <a:t>o</a:t>
            </a:r>
            <a:r>
              <a:rPr dirty="0" sz="8700" spc="-480"/>
              <a:t>r</a:t>
            </a:r>
            <a:r>
              <a:rPr dirty="0" sz="8700" spc="-420"/>
              <a:t>d</a:t>
            </a:r>
            <a:r>
              <a:rPr dirty="0" sz="8700" spc="-459"/>
              <a:t>a</a:t>
            </a:r>
            <a:r>
              <a:rPr dirty="0" sz="8700" spc="-420"/>
              <a:t>b</a:t>
            </a:r>
            <a:r>
              <a:rPr dirty="0" sz="8700" spc="-430"/>
              <a:t>l</a:t>
            </a:r>
            <a:r>
              <a:rPr dirty="0" sz="8700" spc="10"/>
              <a:t>e</a:t>
            </a:r>
            <a:r>
              <a:rPr dirty="0" sz="8700" spc="-890"/>
              <a:t> </a:t>
            </a:r>
            <a:r>
              <a:rPr dirty="0" sz="8700" spc="-370"/>
              <a:t>and </a:t>
            </a:r>
            <a:r>
              <a:rPr dirty="0" sz="8700" spc="-615"/>
              <a:t>C</a:t>
            </a:r>
            <a:r>
              <a:rPr dirty="0" sz="8700" spc="-520"/>
              <a:t>l</a:t>
            </a:r>
            <a:r>
              <a:rPr dirty="0" sz="8700" spc="-530"/>
              <a:t>e</a:t>
            </a:r>
            <a:r>
              <a:rPr dirty="0" sz="8700" spc="-550"/>
              <a:t>a</a:t>
            </a:r>
            <a:r>
              <a:rPr dirty="0" sz="8700" spc="-80"/>
              <a:t>n</a:t>
            </a:r>
            <a:r>
              <a:rPr dirty="0" sz="8700" spc="-894"/>
              <a:t> </a:t>
            </a:r>
            <a:r>
              <a:rPr dirty="0" sz="8700" spc="-640"/>
              <a:t>E</a:t>
            </a:r>
            <a:r>
              <a:rPr dirty="0" sz="8700" spc="-509"/>
              <a:t>n</a:t>
            </a:r>
            <a:r>
              <a:rPr dirty="0" sz="8700" spc="-520"/>
              <a:t>e</a:t>
            </a:r>
            <a:r>
              <a:rPr dirty="0" sz="8700" spc="-560"/>
              <a:t>r</a:t>
            </a:r>
            <a:r>
              <a:rPr dirty="0" sz="8700" spc="-570"/>
              <a:t>g</a:t>
            </a:r>
            <a:r>
              <a:rPr dirty="0" sz="8700" spc="-70"/>
              <a:t>y</a:t>
            </a:r>
            <a:endParaRPr sz="87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1196" y="946150"/>
            <a:ext cx="5544352" cy="684381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26733" y="3388966"/>
            <a:ext cx="9817100" cy="0"/>
          </a:xfrm>
          <a:custGeom>
            <a:avLst/>
            <a:gdLst/>
            <a:ahLst/>
            <a:cxnLst/>
            <a:rect l="l" t="t" r="r" b="b"/>
            <a:pathLst>
              <a:path w="9817100" h="0">
                <a:moveTo>
                  <a:pt x="0" y="0"/>
                </a:moveTo>
                <a:lnTo>
                  <a:pt x="9816687" y="0"/>
                </a:lnTo>
              </a:path>
            </a:pathLst>
          </a:custGeom>
          <a:ln w="9524">
            <a:solidFill>
              <a:srgbClr val="EBF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4033" y="3736752"/>
            <a:ext cx="5914390" cy="5674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dirty="0" sz="3000" spc="-95" b="1">
                <a:solidFill>
                  <a:srgbClr val="EBFFF7"/>
                </a:solidFill>
                <a:latin typeface="Arial"/>
                <a:cs typeface="Arial"/>
              </a:rPr>
              <a:t>Why</a:t>
            </a:r>
            <a:r>
              <a:rPr dirty="0" sz="3000" spc="-18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000" spc="-100" b="1">
                <a:solidFill>
                  <a:srgbClr val="EBFFF7"/>
                </a:solidFill>
                <a:latin typeface="Arial"/>
                <a:cs typeface="Arial"/>
              </a:rPr>
              <a:t>this</a:t>
            </a:r>
            <a:r>
              <a:rPr dirty="0" sz="3000" spc="-18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000" spc="-105" b="1">
                <a:solidFill>
                  <a:srgbClr val="EBFFF7"/>
                </a:solidFill>
                <a:latin typeface="Arial"/>
                <a:cs typeface="Arial"/>
              </a:rPr>
              <a:t>SDG</a:t>
            </a:r>
            <a:r>
              <a:rPr dirty="0" sz="3000" spc="-18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000" spc="-55" b="1">
                <a:solidFill>
                  <a:srgbClr val="EBFFF7"/>
                </a:solidFill>
                <a:latin typeface="Arial"/>
                <a:cs typeface="Arial"/>
              </a:rPr>
              <a:t>matters</a:t>
            </a:r>
            <a:r>
              <a:rPr dirty="0" sz="3000" spc="-175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000" spc="-20" b="1">
                <a:solidFill>
                  <a:srgbClr val="EBFFF7"/>
                </a:solidFill>
                <a:latin typeface="Arial"/>
                <a:cs typeface="Arial"/>
              </a:rPr>
              <a:t>here</a:t>
            </a:r>
            <a:endParaRPr sz="3000">
              <a:latin typeface="Arial"/>
              <a:cs typeface="Arial"/>
            </a:endParaRPr>
          </a:p>
          <a:p>
            <a:pPr marL="12700" marR="57150">
              <a:lnSpc>
                <a:spcPct val="113700"/>
              </a:lnSpc>
              <a:spcBef>
                <a:spcPts val="2665"/>
              </a:spcBef>
            </a:pP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SDG</a:t>
            </a:r>
            <a:r>
              <a:rPr dirty="0" sz="2800" spc="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7</a:t>
            </a:r>
            <a:r>
              <a:rPr dirty="0" sz="2800" spc="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aims</a:t>
            </a:r>
            <a:r>
              <a:rPr dirty="0" sz="2800" spc="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to</a:t>
            </a:r>
            <a:r>
              <a:rPr dirty="0" sz="2800" spc="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ensure</a:t>
            </a:r>
            <a:r>
              <a:rPr dirty="0" sz="2800" spc="16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access</a:t>
            </a:r>
            <a:r>
              <a:rPr dirty="0" sz="2800" spc="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BFFF7"/>
                </a:solidFill>
                <a:latin typeface="Arial MT"/>
                <a:cs typeface="Arial MT"/>
              </a:rPr>
              <a:t>to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affordable,</a:t>
            </a:r>
            <a:r>
              <a:rPr dirty="0" sz="2800" spc="4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reliable,</a:t>
            </a:r>
            <a:r>
              <a:rPr dirty="0" sz="2800" spc="4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sustainable</a:t>
            </a:r>
            <a:r>
              <a:rPr dirty="0" sz="2800" spc="4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BFFF7"/>
                </a:solidFill>
                <a:latin typeface="Arial MT"/>
                <a:cs typeface="Arial MT"/>
              </a:rPr>
              <a:t>and </a:t>
            </a:r>
            <a:r>
              <a:rPr dirty="0" sz="2800" spc="55">
                <a:solidFill>
                  <a:srgbClr val="EBFFF7"/>
                </a:solidFill>
                <a:latin typeface="Arial MT"/>
                <a:cs typeface="Arial MT"/>
              </a:rPr>
              <a:t>modern</a:t>
            </a:r>
            <a:r>
              <a:rPr dirty="0" sz="2800" spc="19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50">
                <a:solidFill>
                  <a:srgbClr val="EBFFF7"/>
                </a:solidFill>
                <a:latin typeface="Arial MT"/>
                <a:cs typeface="Arial MT"/>
              </a:rPr>
              <a:t>for</a:t>
            </a:r>
            <a:r>
              <a:rPr dirty="0" sz="2800" spc="19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all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by</a:t>
            </a:r>
            <a:r>
              <a:rPr dirty="0" sz="2800" spc="19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2030.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BFFF7"/>
                </a:solidFill>
                <a:latin typeface="Arial MT"/>
                <a:cs typeface="Arial MT"/>
              </a:rPr>
              <a:t>Low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renewable</a:t>
            </a:r>
            <a:r>
              <a:rPr dirty="0" sz="280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45">
                <a:solidFill>
                  <a:srgbClr val="EBFFF7"/>
                </a:solidFill>
                <a:latin typeface="Arial MT"/>
                <a:cs typeface="Arial MT"/>
              </a:rPr>
              <a:t>adoption</a:t>
            </a:r>
            <a:r>
              <a:rPr dirty="0" sz="280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is</a:t>
            </a:r>
            <a:r>
              <a:rPr dirty="0" sz="280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the</a:t>
            </a:r>
            <a:r>
              <a:rPr dirty="0" sz="280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35">
                <a:solidFill>
                  <a:srgbClr val="EBFFF7"/>
                </a:solidFill>
                <a:latin typeface="Arial MT"/>
                <a:cs typeface="Arial MT"/>
              </a:rPr>
              <a:t>core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obstacle</a:t>
            </a:r>
            <a:r>
              <a:rPr dirty="0" sz="2800" spc="2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to</a:t>
            </a:r>
            <a:r>
              <a:rPr dirty="0" sz="2800" spc="2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45">
                <a:solidFill>
                  <a:srgbClr val="EBFFF7"/>
                </a:solidFill>
                <a:latin typeface="Arial MT"/>
                <a:cs typeface="Arial MT"/>
              </a:rPr>
              <a:t>reaching</a:t>
            </a:r>
            <a:r>
              <a:rPr dirty="0" sz="2800" spc="25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BFFF7"/>
                </a:solidFill>
                <a:latin typeface="Arial MT"/>
                <a:cs typeface="Arial MT"/>
              </a:rPr>
              <a:t>it.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13700"/>
              </a:lnSpc>
            </a:pP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Every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65">
                <a:solidFill>
                  <a:srgbClr val="EBFFF7"/>
                </a:solidFill>
                <a:latin typeface="Arial MT"/>
                <a:cs typeface="Arial MT"/>
              </a:rPr>
              <a:t>barrier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to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clean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2800" spc="1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EBFFF7"/>
                </a:solidFill>
                <a:latin typeface="Arial MT"/>
                <a:cs typeface="Arial MT"/>
              </a:rPr>
              <a:t>—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cost,</a:t>
            </a:r>
            <a:r>
              <a:rPr dirty="0" sz="280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45">
                <a:solidFill>
                  <a:srgbClr val="EBFFF7"/>
                </a:solidFill>
                <a:latin typeface="Arial MT"/>
                <a:cs typeface="Arial MT"/>
              </a:rPr>
              <a:t>infrastructure,</a:t>
            </a:r>
            <a:r>
              <a:rPr dirty="0" sz="2800" spc="2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60">
                <a:solidFill>
                  <a:srgbClr val="EBFFF7"/>
                </a:solidFill>
                <a:latin typeface="Arial MT"/>
                <a:cs typeface="Arial MT"/>
              </a:rPr>
              <a:t>policy</a:t>
            </a:r>
            <a:r>
              <a:rPr dirty="0" sz="2800" spc="2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EBFFF7"/>
                </a:solidFill>
                <a:latin typeface="Arial MT"/>
                <a:cs typeface="Arial MT"/>
              </a:rPr>
              <a:t>— </a:t>
            </a:r>
            <a:r>
              <a:rPr dirty="0" sz="2800" spc="60">
                <a:solidFill>
                  <a:srgbClr val="EBFFF7"/>
                </a:solidFill>
                <a:latin typeface="Arial MT"/>
                <a:cs typeface="Arial MT"/>
              </a:rPr>
              <a:t>directly</a:t>
            </a:r>
            <a:r>
              <a:rPr dirty="0" sz="2800" spc="229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slows</a:t>
            </a:r>
            <a:r>
              <a:rPr dirty="0" sz="2800" spc="2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progress</a:t>
            </a:r>
            <a:r>
              <a:rPr dirty="0" sz="2800" spc="2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on</a:t>
            </a:r>
            <a:r>
              <a:rPr dirty="0" sz="2800" spc="2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this</a:t>
            </a:r>
            <a:r>
              <a:rPr dirty="0" sz="2800" spc="2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BFFF7"/>
                </a:solidFill>
                <a:latin typeface="Arial MT"/>
                <a:cs typeface="Arial MT"/>
              </a:rPr>
              <a:t>goal,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keeping</a:t>
            </a:r>
            <a:r>
              <a:rPr dirty="0" sz="2800" spc="2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45">
                <a:solidFill>
                  <a:srgbClr val="EBFFF7"/>
                </a:solidFill>
                <a:latin typeface="Arial MT"/>
                <a:cs typeface="Arial MT"/>
              </a:rPr>
              <a:t>communities</a:t>
            </a:r>
            <a:r>
              <a:rPr dirty="0" sz="2800" spc="2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50">
                <a:solidFill>
                  <a:srgbClr val="EBFFF7"/>
                </a:solidFill>
                <a:latin typeface="Arial MT"/>
                <a:cs typeface="Arial MT"/>
              </a:rPr>
              <a:t>dependent</a:t>
            </a:r>
            <a:r>
              <a:rPr dirty="0" sz="2800" spc="229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EBFFF7"/>
                </a:solidFill>
                <a:latin typeface="Arial MT"/>
                <a:cs typeface="Arial MT"/>
              </a:rPr>
              <a:t>on </a:t>
            </a:r>
            <a:r>
              <a:rPr dirty="0" sz="2800" spc="45">
                <a:solidFill>
                  <a:srgbClr val="EBFFF7"/>
                </a:solidFill>
                <a:latin typeface="Arial MT"/>
                <a:cs typeface="Arial MT"/>
              </a:rPr>
              <a:t>polluting,</a:t>
            </a:r>
            <a:r>
              <a:rPr dirty="0" sz="2800" spc="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EBFFF7"/>
                </a:solidFill>
                <a:latin typeface="Arial MT"/>
                <a:cs typeface="Arial MT"/>
              </a:rPr>
              <a:t>finite</a:t>
            </a:r>
            <a:r>
              <a:rPr dirty="0" sz="2800" spc="28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EBFFF7"/>
                </a:solidFill>
                <a:latin typeface="Arial MT"/>
                <a:cs typeface="Arial MT"/>
              </a:rPr>
              <a:t>fuels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966453"/>
            <a:ext cx="5614670" cy="18465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950" spc="-690"/>
              <a:t>S</a:t>
            </a:r>
            <a:r>
              <a:rPr dirty="0" sz="11950" spc="-685"/>
              <a:t>o</a:t>
            </a:r>
            <a:r>
              <a:rPr dirty="0" sz="11950" spc="-790"/>
              <a:t>l</a:t>
            </a:r>
            <a:r>
              <a:rPr dirty="0" sz="11950" spc="-685"/>
              <a:t>u</a:t>
            </a:r>
            <a:r>
              <a:rPr dirty="0" sz="11950" spc="-655"/>
              <a:t>t</a:t>
            </a:r>
            <a:r>
              <a:rPr dirty="0" sz="11950" spc="-675"/>
              <a:t>i</a:t>
            </a:r>
            <a:r>
              <a:rPr dirty="0" sz="11950" spc="-685"/>
              <a:t>on</a:t>
            </a:r>
            <a:r>
              <a:rPr dirty="0" sz="11950" spc="-75"/>
              <a:t>s</a:t>
            </a:r>
            <a:endParaRPr sz="11950"/>
          </a:p>
        </p:txBody>
      </p:sp>
      <p:sp>
        <p:nvSpPr>
          <p:cNvPr id="5" name="object 5"/>
          <p:cNvSpPr txBox="1"/>
          <p:nvPr/>
        </p:nvSpPr>
        <p:spPr>
          <a:xfrm>
            <a:off x="1016000" y="3110314"/>
            <a:ext cx="13553440" cy="447738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5"/>
              </a:spcBef>
              <a:buSzPct val="96825"/>
              <a:buAutoNum type="arabicPeriod"/>
              <a:tabLst>
                <a:tab pos="355600" algn="l"/>
              </a:tabLst>
            </a:pPr>
            <a:r>
              <a:rPr dirty="0" sz="3150" spc="70">
                <a:solidFill>
                  <a:srgbClr val="EBFFF7"/>
                </a:solidFill>
                <a:latin typeface="Arial MT"/>
                <a:cs typeface="Arial MT"/>
              </a:rPr>
              <a:t>Grid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60">
                <a:solidFill>
                  <a:srgbClr val="EBFFF7"/>
                </a:solidFill>
                <a:latin typeface="Arial MT"/>
                <a:cs typeface="Arial MT"/>
              </a:rPr>
              <a:t>Modernization</a:t>
            </a:r>
            <a:r>
              <a:rPr dirty="0" sz="315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60">
                <a:solidFill>
                  <a:srgbClr val="EBFFF7"/>
                </a:solidFill>
                <a:latin typeface="Arial MT"/>
                <a:cs typeface="Arial MT"/>
              </a:rPr>
              <a:t>&amp;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315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45">
                <a:solidFill>
                  <a:srgbClr val="EBFFF7"/>
                </a:solidFill>
                <a:latin typeface="Arial MT"/>
                <a:cs typeface="Arial MT"/>
              </a:rPr>
              <a:t>Storage</a:t>
            </a:r>
            <a:endParaRPr sz="3150">
              <a:latin typeface="Arial MT"/>
              <a:cs typeface="Arial MT"/>
            </a:endParaRPr>
          </a:p>
          <a:p>
            <a:pPr marL="12700" marR="226695" indent="342900">
              <a:lnSpc>
                <a:spcPct val="115900"/>
              </a:lnSpc>
              <a:spcBef>
                <a:spcPts val="5"/>
              </a:spcBef>
              <a:buSzPct val="96825"/>
              <a:buAutoNum type="arabicPeriod"/>
              <a:tabLst>
                <a:tab pos="355600" algn="l"/>
              </a:tabLst>
            </a:pPr>
            <a:r>
              <a:rPr dirty="0" sz="3150" spc="45">
                <a:solidFill>
                  <a:srgbClr val="EBFFF7"/>
                </a:solidFill>
                <a:latin typeface="Arial MT"/>
                <a:cs typeface="Arial MT"/>
              </a:rPr>
              <a:t>SolarShare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-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A</a:t>
            </a:r>
            <a:r>
              <a:rPr dirty="0" sz="315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80">
                <a:solidFill>
                  <a:srgbClr val="EBFFF7"/>
                </a:solidFill>
                <a:latin typeface="Arial MT"/>
                <a:cs typeface="Arial MT"/>
              </a:rPr>
              <a:t>Community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50">
                <a:solidFill>
                  <a:srgbClr val="EBFFF7"/>
                </a:solidFill>
                <a:latin typeface="Arial MT"/>
                <a:cs typeface="Arial MT"/>
              </a:rPr>
              <a:t>Investment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50" spc="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55">
                <a:solidFill>
                  <a:srgbClr val="EBFFF7"/>
                </a:solidFill>
                <a:latin typeface="Arial MT"/>
                <a:cs typeface="Arial MT"/>
              </a:rPr>
              <a:t>Virtual</a:t>
            </a:r>
            <a:r>
              <a:rPr dirty="0" sz="3150" spc="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60">
                <a:solidFill>
                  <a:srgbClr val="EBFFF7"/>
                </a:solidFill>
                <a:latin typeface="Arial MT"/>
                <a:cs typeface="Arial MT"/>
              </a:rPr>
              <a:t>Net-</a:t>
            </a:r>
            <a:r>
              <a:rPr dirty="0" sz="3150" spc="65">
                <a:solidFill>
                  <a:srgbClr val="EBFFF7"/>
                </a:solidFill>
                <a:latin typeface="Arial MT"/>
                <a:cs typeface="Arial MT"/>
              </a:rPr>
              <a:t>Metering </a:t>
            </a:r>
            <a:r>
              <a:rPr dirty="0" sz="3150" spc="-10">
                <a:solidFill>
                  <a:srgbClr val="EBFFF7"/>
                </a:solidFill>
                <a:latin typeface="Arial MT"/>
                <a:cs typeface="Arial MT"/>
              </a:rPr>
              <a:t>Platform</a:t>
            </a:r>
            <a:endParaRPr sz="3150">
              <a:latin typeface="Arial MT"/>
              <a:cs typeface="Arial MT"/>
            </a:endParaRPr>
          </a:p>
          <a:p>
            <a:pPr marL="12700" marR="5080" indent="462915">
              <a:lnSpc>
                <a:spcPct val="115900"/>
              </a:lnSpc>
              <a:buSzPct val="96825"/>
              <a:buAutoNum type="arabicPeriod"/>
              <a:tabLst>
                <a:tab pos="475615" algn="l"/>
              </a:tabLst>
            </a:pP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55">
                <a:solidFill>
                  <a:srgbClr val="EBFFF7"/>
                </a:solidFill>
                <a:latin typeface="Arial MT"/>
                <a:cs typeface="Arial MT"/>
              </a:rPr>
              <a:t>Impact</a:t>
            </a:r>
            <a:r>
              <a:rPr dirty="0" sz="3150" spc="2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60">
                <a:solidFill>
                  <a:srgbClr val="EBFFF7"/>
                </a:solidFill>
                <a:latin typeface="Arial MT"/>
                <a:cs typeface="Arial MT"/>
              </a:rPr>
              <a:t>&amp;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Rewards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Tracker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(SIRT)</a:t>
            </a:r>
            <a:r>
              <a:rPr dirty="0" sz="3150" spc="2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–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A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Gamified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Web</a:t>
            </a:r>
            <a:r>
              <a:rPr dirty="0" sz="3150" spc="2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Platform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40">
                <a:solidFill>
                  <a:srgbClr val="EBFFF7"/>
                </a:solidFill>
                <a:latin typeface="Arial MT"/>
                <a:cs typeface="Arial MT"/>
              </a:rPr>
              <a:t>for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Rooftop</a:t>
            </a:r>
            <a:r>
              <a:rPr dirty="0" sz="3150" spc="3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50" spc="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75">
                <a:solidFill>
                  <a:srgbClr val="EBFFF7"/>
                </a:solidFill>
                <a:latin typeface="Arial MT"/>
                <a:cs typeface="Arial MT"/>
              </a:rPr>
              <a:t>Adoption</a:t>
            </a:r>
            <a:r>
              <a:rPr dirty="0" sz="3150" spc="3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50" spc="3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Savings</a:t>
            </a:r>
            <a:r>
              <a:rPr dirty="0" sz="3150" spc="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-10">
                <a:solidFill>
                  <a:srgbClr val="EBFFF7"/>
                </a:solidFill>
                <a:latin typeface="Arial MT"/>
                <a:cs typeface="Arial MT"/>
              </a:rPr>
              <a:t>Tracking</a:t>
            </a:r>
            <a:endParaRPr sz="31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96825"/>
              <a:buAutoNum type="arabicPeriod"/>
              <a:tabLst>
                <a:tab pos="354965" algn="l"/>
              </a:tabLst>
            </a:pP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Renewable</a:t>
            </a:r>
            <a:r>
              <a:rPr dirty="0" sz="3150" spc="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3150" spc="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70">
                <a:solidFill>
                  <a:srgbClr val="EBFFF7"/>
                </a:solidFill>
                <a:latin typeface="Arial MT"/>
                <a:cs typeface="Arial MT"/>
              </a:rPr>
              <a:t>Suitability</a:t>
            </a:r>
            <a:r>
              <a:rPr dirty="0" sz="3150" spc="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60">
                <a:solidFill>
                  <a:srgbClr val="EBFFF7"/>
                </a:solidFill>
                <a:latin typeface="Arial MT"/>
                <a:cs typeface="Arial MT"/>
              </a:rPr>
              <a:t>&amp;</a:t>
            </a:r>
            <a:r>
              <a:rPr dirty="0" sz="3150" spc="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Site</a:t>
            </a:r>
            <a:r>
              <a:rPr dirty="0" sz="3150" spc="27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Assessment</a:t>
            </a:r>
            <a:r>
              <a:rPr dirty="0" sz="3150" spc="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40">
                <a:solidFill>
                  <a:srgbClr val="EBFFF7"/>
                </a:solidFill>
                <a:latin typeface="Arial MT"/>
                <a:cs typeface="Arial MT"/>
              </a:rPr>
              <a:t>tool</a:t>
            </a:r>
            <a:endParaRPr sz="31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96825"/>
              <a:buAutoNum type="arabicPeriod"/>
              <a:tabLst>
                <a:tab pos="354965" algn="l"/>
              </a:tabLst>
            </a:pP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Renewable</a:t>
            </a:r>
            <a:r>
              <a:rPr dirty="0" sz="3150" spc="2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75">
                <a:solidFill>
                  <a:srgbClr val="EBFFF7"/>
                </a:solidFill>
                <a:latin typeface="Arial MT"/>
                <a:cs typeface="Arial MT"/>
              </a:rPr>
              <a:t>Adoption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70">
                <a:solidFill>
                  <a:srgbClr val="EBFFF7"/>
                </a:solidFill>
                <a:latin typeface="Arial MT"/>
                <a:cs typeface="Arial MT"/>
              </a:rPr>
              <a:t>Barrier</a:t>
            </a:r>
            <a:r>
              <a:rPr dirty="0" sz="3150" spc="2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50">
                <a:solidFill>
                  <a:srgbClr val="EBFFF7"/>
                </a:solidFill>
                <a:latin typeface="Arial MT"/>
                <a:cs typeface="Arial MT"/>
              </a:rPr>
              <a:t>Advisor</a:t>
            </a:r>
            <a:endParaRPr sz="3150">
              <a:latin typeface="Arial MT"/>
              <a:cs typeface="Arial MT"/>
            </a:endParaRPr>
          </a:p>
          <a:p>
            <a:pPr marL="368935" indent="-356235">
              <a:lnSpc>
                <a:spcPct val="100000"/>
              </a:lnSpc>
              <a:spcBef>
                <a:spcPts val="600"/>
              </a:spcBef>
              <a:buSzPct val="96825"/>
              <a:buAutoNum type="arabicPeriod"/>
              <a:tabLst>
                <a:tab pos="368935" algn="l"/>
              </a:tabLst>
            </a:pP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AI</a:t>
            </a:r>
            <a:r>
              <a:rPr dirty="0" sz="3150" spc="229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Powered</a:t>
            </a:r>
            <a:r>
              <a:rPr dirty="0" sz="3150" spc="2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70">
                <a:solidFill>
                  <a:srgbClr val="EBFFF7"/>
                </a:solidFill>
                <a:latin typeface="Arial MT"/>
                <a:cs typeface="Arial MT"/>
              </a:rPr>
              <a:t>Community</a:t>
            </a:r>
            <a:r>
              <a:rPr dirty="0" sz="3150" spc="2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50" spc="2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60">
                <a:solidFill>
                  <a:srgbClr val="EBFFF7"/>
                </a:solidFill>
                <a:latin typeface="Arial MT"/>
                <a:cs typeface="Arial MT"/>
              </a:rPr>
              <a:t>&amp;</a:t>
            </a:r>
            <a:r>
              <a:rPr dirty="0" sz="3150" spc="2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50" spc="-25">
                <a:solidFill>
                  <a:srgbClr val="EBFFF7"/>
                </a:solidFill>
                <a:latin typeface="Arial MT"/>
                <a:cs typeface="Arial MT"/>
              </a:rPr>
              <a:t>P2P</a:t>
            </a:r>
            <a:endParaRPr sz="31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6190" y="8207335"/>
            <a:ext cx="228600" cy="22859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4000" y="9263062"/>
            <a:ext cx="8115300" cy="0"/>
          </a:xfrm>
          <a:custGeom>
            <a:avLst/>
            <a:gdLst/>
            <a:ahLst/>
            <a:cxnLst/>
            <a:rect l="l" t="t" r="r" b="b"/>
            <a:pathLst>
              <a:path w="8115300" h="0">
                <a:moveTo>
                  <a:pt x="0" y="0"/>
                </a:moveTo>
                <a:lnTo>
                  <a:pt x="8115299" y="0"/>
                </a:lnTo>
              </a:path>
            </a:pathLst>
          </a:custGeom>
          <a:ln w="9524">
            <a:solidFill>
              <a:srgbClr val="EBFFF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8025" y="3037523"/>
            <a:ext cx="7199141" cy="577736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707589"/>
            <a:ext cx="12310110" cy="3148965"/>
          </a:xfrm>
          <a:prstGeom prst="rect"/>
        </p:spPr>
        <p:txBody>
          <a:bodyPr wrap="square" lIns="0" tIns="381635" rIns="0" bIns="0" rtlCol="0" vert="horz">
            <a:spAutoFit/>
          </a:bodyPr>
          <a:lstStyle/>
          <a:p>
            <a:pPr marL="12700" marR="5080">
              <a:lnSpc>
                <a:spcPct val="78900"/>
              </a:lnSpc>
              <a:spcBef>
                <a:spcPts val="3005"/>
              </a:spcBef>
            </a:pPr>
            <a:r>
              <a:rPr dirty="0" sz="11450" spc="-445"/>
              <a:t>G</a:t>
            </a:r>
            <a:r>
              <a:rPr dirty="0" sz="11450" spc="-545"/>
              <a:t>r</a:t>
            </a:r>
            <a:r>
              <a:rPr dirty="0" sz="11450" spc="-585"/>
              <a:t>i</a:t>
            </a:r>
            <a:r>
              <a:rPr dirty="0" sz="11450" spc="-10"/>
              <a:t>d</a:t>
            </a:r>
            <a:r>
              <a:rPr dirty="0" sz="11450" spc="-1140"/>
              <a:t> </a:t>
            </a:r>
            <a:r>
              <a:rPr dirty="0" sz="11450" spc="-610"/>
              <a:t>Mo</a:t>
            </a:r>
            <a:r>
              <a:rPr dirty="0" sz="11450" spc="-600"/>
              <a:t>d</a:t>
            </a:r>
            <a:r>
              <a:rPr dirty="0" sz="11450" spc="-625"/>
              <a:t>e</a:t>
            </a:r>
            <a:r>
              <a:rPr dirty="0" sz="11450" spc="-570"/>
              <a:t>r</a:t>
            </a:r>
            <a:r>
              <a:rPr dirty="0" sz="11450" spc="-610"/>
              <a:t>n</a:t>
            </a:r>
            <a:r>
              <a:rPr dirty="0" sz="11450" spc="-720"/>
              <a:t>i</a:t>
            </a:r>
            <a:r>
              <a:rPr dirty="0" sz="11450" spc="-660"/>
              <a:t>z</a:t>
            </a:r>
            <a:r>
              <a:rPr dirty="0" sz="11450" spc="-740"/>
              <a:t>a</a:t>
            </a:r>
            <a:r>
              <a:rPr dirty="0" sz="11450" spc="-590"/>
              <a:t>t</a:t>
            </a:r>
            <a:r>
              <a:rPr dirty="0" sz="11450" spc="-610"/>
              <a:t>io</a:t>
            </a:r>
            <a:r>
              <a:rPr dirty="0" sz="11450" spc="-35"/>
              <a:t>n</a:t>
            </a:r>
            <a:r>
              <a:rPr dirty="0" sz="11450" spc="-1130"/>
              <a:t> </a:t>
            </a:r>
            <a:r>
              <a:rPr dirty="0" sz="11450" spc="100"/>
              <a:t>&amp; </a:t>
            </a:r>
            <a:r>
              <a:rPr dirty="0" sz="11450" spc="-844"/>
              <a:t>E</a:t>
            </a:r>
            <a:r>
              <a:rPr dirty="0" sz="11450" spc="-675"/>
              <a:t>n</a:t>
            </a:r>
            <a:r>
              <a:rPr dirty="0" sz="11450" spc="-690"/>
              <a:t>e</a:t>
            </a:r>
            <a:r>
              <a:rPr dirty="0" sz="11450" spc="-735"/>
              <a:t>r</a:t>
            </a:r>
            <a:r>
              <a:rPr dirty="0" sz="11450" spc="-755"/>
              <a:t>g</a:t>
            </a:r>
            <a:r>
              <a:rPr dirty="0" sz="11450" spc="-100"/>
              <a:t>y</a:t>
            </a:r>
            <a:r>
              <a:rPr dirty="0" sz="11450" spc="-1135"/>
              <a:t> </a:t>
            </a:r>
            <a:r>
              <a:rPr dirty="0" sz="11450" spc="-625"/>
              <a:t>S</a:t>
            </a:r>
            <a:r>
              <a:rPr dirty="0" sz="11450" spc="-670"/>
              <a:t>t</a:t>
            </a:r>
            <a:r>
              <a:rPr dirty="0" sz="11450" spc="-610"/>
              <a:t>o</a:t>
            </a:r>
            <a:r>
              <a:rPr dirty="0" sz="11450" spc="-570"/>
              <a:t>r</a:t>
            </a:r>
            <a:r>
              <a:rPr dirty="0" sz="11450" spc="-740"/>
              <a:t>a</a:t>
            </a:r>
            <a:r>
              <a:rPr dirty="0" sz="11450" spc="-605"/>
              <a:t>g</a:t>
            </a:r>
            <a:r>
              <a:rPr dirty="0" sz="11450" spc="-35"/>
              <a:t>e</a:t>
            </a:r>
            <a:endParaRPr sz="114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823" y="7562554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823" y="8124529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823" y="8686504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4337" y="4201945"/>
            <a:ext cx="10382885" cy="477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100"/>
              </a:spcBef>
            </a:pPr>
            <a:r>
              <a:rPr dirty="0" sz="3300" spc="-60" b="1">
                <a:solidFill>
                  <a:srgbClr val="EBFFF7"/>
                </a:solidFill>
                <a:latin typeface="Arial"/>
                <a:cs typeface="Arial"/>
              </a:rPr>
              <a:t>Making</a:t>
            </a:r>
            <a:r>
              <a:rPr dirty="0" sz="3300" spc="-204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45" b="1">
                <a:solidFill>
                  <a:srgbClr val="EBFFF7"/>
                </a:solidFill>
                <a:latin typeface="Arial"/>
                <a:cs typeface="Arial"/>
              </a:rPr>
              <a:t>the</a:t>
            </a:r>
            <a:r>
              <a:rPr dirty="0" sz="3300" spc="-20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40" b="1">
                <a:solidFill>
                  <a:srgbClr val="EBFFF7"/>
                </a:solidFill>
                <a:latin typeface="Arial"/>
                <a:cs typeface="Arial"/>
              </a:rPr>
              <a:t>grid</a:t>
            </a:r>
            <a:r>
              <a:rPr dirty="0" sz="3300" spc="-20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60" b="1">
                <a:solidFill>
                  <a:srgbClr val="EBFFF7"/>
                </a:solidFill>
                <a:latin typeface="Arial"/>
                <a:cs typeface="Arial"/>
              </a:rPr>
              <a:t>ready</a:t>
            </a:r>
            <a:r>
              <a:rPr dirty="0" sz="3300" spc="-204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55" b="1">
                <a:solidFill>
                  <a:srgbClr val="EBFFF7"/>
                </a:solidFill>
                <a:latin typeface="Arial"/>
                <a:cs typeface="Arial"/>
              </a:rPr>
              <a:t>for</a:t>
            </a:r>
            <a:r>
              <a:rPr dirty="0" sz="3300" spc="-20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85" b="1">
                <a:solidFill>
                  <a:srgbClr val="EBFFF7"/>
                </a:solidFill>
                <a:latin typeface="Arial"/>
                <a:cs typeface="Arial"/>
              </a:rPr>
              <a:t>clean</a:t>
            </a:r>
            <a:r>
              <a:rPr dirty="0" sz="3300" spc="-20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EBFFF7"/>
                </a:solidFill>
                <a:latin typeface="Arial"/>
                <a:cs typeface="Arial"/>
              </a:rPr>
              <a:t>power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3300">
              <a:latin typeface="Arial"/>
              <a:cs typeface="Arial"/>
            </a:endParaRPr>
          </a:p>
          <a:p>
            <a:pPr marL="12700" marR="635635">
              <a:lnSpc>
                <a:spcPct val="114900"/>
              </a:lnSpc>
            </a:pP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Upgrades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ageing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35">
                <a:solidFill>
                  <a:srgbClr val="EBFFF7"/>
                </a:solidFill>
                <a:latin typeface="Arial MT"/>
                <a:cs typeface="Arial MT"/>
              </a:rPr>
              <a:t>grids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EBFFF7"/>
                </a:solidFill>
                <a:latin typeface="Arial MT"/>
                <a:cs typeface="Arial MT"/>
              </a:rPr>
              <a:t>with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EBFFF7"/>
                </a:solidFill>
                <a:latin typeface="Arial MT"/>
                <a:cs typeface="Arial MT"/>
              </a:rPr>
              <a:t>smart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5">
                <a:solidFill>
                  <a:srgbClr val="EBFFF7"/>
                </a:solidFill>
                <a:latin typeface="Arial MT"/>
                <a:cs typeface="Arial MT"/>
              </a:rPr>
              <a:t>controls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5">
                <a:solidFill>
                  <a:srgbClr val="EBFFF7"/>
                </a:solidFill>
                <a:latin typeface="Arial MT"/>
                <a:cs typeface="Arial MT"/>
              </a:rPr>
              <a:t>large-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scale </a:t>
            </a:r>
            <a:r>
              <a:rPr dirty="0" sz="3100" spc="-45">
                <a:solidFill>
                  <a:srgbClr val="EBFFF7"/>
                </a:solidFill>
                <a:latin typeface="Arial MT"/>
                <a:cs typeface="Arial MT"/>
              </a:rPr>
              <a:t>battery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storage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so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95">
                <a:solidFill>
                  <a:srgbClr val="EBFFF7"/>
                </a:solidFill>
                <a:latin typeface="Arial MT"/>
                <a:cs typeface="Arial MT"/>
              </a:rPr>
              <a:t>variable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EBFFF7"/>
                </a:solidFill>
                <a:latin typeface="Arial MT"/>
                <a:cs typeface="Arial MT"/>
              </a:rPr>
              <a:t>wind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5">
                <a:solidFill>
                  <a:srgbClr val="EBFFF7"/>
                </a:solidFill>
                <a:latin typeface="Arial MT"/>
                <a:cs typeface="Arial MT"/>
              </a:rPr>
              <a:t>supply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EBFFF7"/>
                </a:solidFill>
                <a:latin typeface="Arial MT"/>
                <a:cs typeface="Arial MT"/>
              </a:rPr>
              <a:t>can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25">
                <a:solidFill>
                  <a:srgbClr val="EBFFF7"/>
                </a:solidFill>
                <a:latin typeface="Arial MT"/>
                <a:cs typeface="Arial MT"/>
              </a:rPr>
              <a:t>be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absorbed,</a:t>
            </a:r>
            <a:r>
              <a:rPr dirty="0" sz="31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balanced</a:t>
            </a:r>
            <a:r>
              <a:rPr dirty="0" sz="31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5">
                <a:solidFill>
                  <a:srgbClr val="EBFFF7"/>
                </a:solidFill>
                <a:latin typeface="Arial MT"/>
                <a:cs typeface="Arial MT"/>
              </a:rPr>
              <a:t>delivered</a:t>
            </a:r>
            <a:r>
              <a:rPr dirty="0" sz="31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reliably.</a:t>
            </a:r>
            <a:endParaRPr sz="3100">
              <a:latin typeface="Arial MT"/>
              <a:cs typeface="Arial MT"/>
            </a:endParaRPr>
          </a:p>
          <a:p>
            <a:pPr marL="149860" marR="5080">
              <a:lnSpc>
                <a:spcPct val="115199"/>
              </a:lnSpc>
              <a:spcBef>
                <a:spcPts val="1510"/>
              </a:spcBef>
            </a:pPr>
            <a:r>
              <a:rPr dirty="0" sz="3200" spc="-30">
                <a:solidFill>
                  <a:srgbClr val="EBFFF7"/>
                </a:solidFill>
                <a:latin typeface="Arial MT"/>
                <a:cs typeface="Arial MT"/>
              </a:rPr>
              <a:t>Smart</a:t>
            </a:r>
            <a:r>
              <a:rPr dirty="0" sz="3200" spc="-18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grid</a:t>
            </a:r>
            <a:r>
              <a:rPr dirty="0" sz="3200" spc="-16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50">
                <a:solidFill>
                  <a:srgbClr val="EBFFF7"/>
                </a:solidFill>
                <a:latin typeface="Arial MT"/>
                <a:cs typeface="Arial MT"/>
              </a:rPr>
              <a:t>controls</a:t>
            </a:r>
            <a:r>
              <a:rPr dirty="0" sz="32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5">
                <a:solidFill>
                  <a:srgbClr val="EBFFF7"/>
                </a:solidFill>
                <a:latin typeface="Arial MT"/>
                <a:cs typeface="Arial MT"/>
              </a:rPr>
              <a:t>handle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55">
                <a:solidFill>
                  <a:srgbClr val="EBFFF7"/>
                </a:solidFill>
                <a:latin typeface="Arial MT"/>
                <a:cs typeface="Arial MT"/>
              </a:rPr>
              <a:t>fluctuating</a:t>
            </a:r>
            <a:r>
              <a:rPr dirty="0" sz="32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5">
                <a:solidFill>
                  <a:srgbClr val="EBFFF7"/>
                </a:solidFill>
                <a:latin typeface="Arial MT"/>
                <a:cs typeface="Arial MT"/>
              </a:rPr>
              <a:t>renewable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supply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Battery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5">
                <a:solidFill>
                  <a:srgbClr val="EBFFF7"/>
                </a:solidFill>
                <a:latin typeface="Arial MT"/>
                <a:cs typeface="Arial MT"/>
              </a:rPr>
              <a:t>storage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5">
                <a:solidFill>
                  <a:srgbClr val="EBFFF7"/>
                </a:solidFill>
                <a:latin typeface="Arial MT"/>
                <a:cs typeface="Arial MT"/>
              </a:rPr>
              <a:t>shifts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5">
                <a:solidFill>
                  <a:srgbClr val="EBFFF7"/>
                </a:solidFill>
                <a:latin typeface="Arial MT"/>
                <a:cs typeface="Arial MT"/>
              </a:rPr>
              <a:t>surplus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5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to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peak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demand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hours 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Reduces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blackouts</a:t>
            </a:r>
            <a:r>
              <a:rPr dirty="0" sz="32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2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0">
                <a:solidFill>
                  <a:srgbClr val="EBFFF7"/>
                </a:solidFill>
                <a:latin typeface="Arial MT"/>
                <a:cs typeface="Arial MT"/>
              </a:rPr>
              <a:t>curtailment</a:t>
            </a:r>
            <a:r>
              <a:rPr dirty="0" sz="32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of</a:t>
            </a:r>
            <a:r>
              <a:rPr dirty="0" sz="32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clean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8610" rIns="0" bIns="0" rtlCol="0" vert="horz">
            <a:spAutoFit/>
          </a:bodyPr>
          <a:lstStyle/>
          <a:p>
            <a:pPr marL="12700" marR="5080">
              <a:lnSpc>
                <a:spcPct val="79100"/>
              </a:lnSpc>
              <a:spcBef>
                <a:spcPts val="2430"/>
              </a:spcBef>
            </a:pPr>
            <a:r>
              <a:rPr dirty="0" sz="9200" spc="-530"/>
              <a:t>S</a:t>
            </a:r>
            <a:r>
              <a:rPr dirty="0" sz="9200" spc="-520"/>
              <a:t>ol</a:t>
            </a:r>
            <a:r>
              <a:rPr dirty="0" sz="9200" spc="-550"/>
              <a:t>a</a:t>
            </a:r>
            <a:r>
              <a:rPr dirty="0" sz="9200" spc="-490"/>
              <a:t>r</a:t>
            </a:r>
            <a:r>
              <a:rPr dirty="0" sz="9200" spc="-600"/>
              <a:t>S</a:t>
            </a:r>
            <a:r>
              <a:rPr dirty="0" sz="9200" spc="-520"/>
              <a:t>h</a:t>
            </a:r>
            <a:r>
              <a:rPr dirty="0" sz="9200" spc="-550"/>
              <a:t>a</a:t>
            </a:r>
            <a:r>
              <a:rPr dirty="0" sz="9200" spc="-590"/>
              <a:t>r</a:t>
            </a:r>
            <a:r>
              <a:rPr dirty="0" sz="9200" spc="-55"/>
              <a:t>e</a:t>
            </a:r>
            <a:r>
              <a:rPr dirty="0" sz="9200" spc="-900"/>
              <a:t> </a:t>
            </a:r>
            <a:r>
              <a:rPr dirty="0" sz="9200"/>
              <a:t>-</a:t>
            </a:r>
            <a:r>
              <a:rPr dirty="0" sz="9200" spc="-900"/>
              <a:t> </a:t>
            </a:r>
            <a:r>
              <a:rPr dirty="0" sz="9200" spc="-405"/>
              <a:t>Community </a:t>
            </a:r>
            <a:r>
              <a:rPr dirty="0" sz="9200" spc="-409"/>
              <a:t>Solar</a:t>
            </a:r>
            <a:r>
              <a:rPr dirty="0" sz="9200" spc="-944"/>
              <a:t> </a:t>
            </a:r>
            <a:r>
              <a:rPr dirty="0" sz="9200" spc="-565"/>
              <a:t>I</a:t>
            </a:r>
            <a:r>
              <a:rPr dirty="0" sz="9200" spc="-509"/>
              <a:t>n</a:t>
            </a:r>
            <a:r>
              <a:rPr dirty="0" sz="9200" spc="-660"/>
              <a:t>v</a:t>
            </a:r>
            <a:r>
              <a:rPr dirty="0" sz="9200" spc="-520"/>
              <a:t>e</a:t>
            </a:r>
            <a:r>
              <a:rPr dirty="0" sz="9200" spc="-535"/>
              <a:t>s</a:t>
            </a:r>
            <a:r>
              <a:rPr dirty="0" sz="9200" spc="-490"/>
              <a:t>t</a:t>
            </a:r>
            <a:r>
              <a:rPr dirty="0" sz="9200" spc="-509"/>
              <a:t>m</a:t>
            </a:r>
            <a:r>
              <a:rPr dirty="0" sz="9200" spc="-520"/>
              <a:t>e</a:t>
            </a:r>
            <a:r>
              <a:rPr dirty="0" sz="9200" spc="-509"/>
              <a:t>n</a:t>
            </a:r>
            <a:r>
              <a:rPr dirty="0" sz="9200" spc="-45"/>
              <a:t>t</a:t>
            </a:r>
            <a:r>
              <a:rPr dirty="0" sz="9200" spc="-930"/>
              <a:t> </a:t>
            </a:r>
            <a:r>
              <a:rPr dirty="0" sz="9200" spc="-655"/>
              <a:t>P</a:t>
            </a:r>
            <a:r>
              <a:rPr dirty="0" sz="9200" spc="-520"/>
              <a:t>l</a:t>
            </a:r>
            <a:r>
              <a:rPr dirty="0" sz="9200" spc="-620"/>
              <a:t>a</a:t>
            </a:r>
            <a:r>
              <a:rPr dirty="0" sz="9200" spc="-500"/>
              <a:t>t</a:t>
            </a:r>
            <a:r>
              <a:rPr dirty="0" sz="9200" spc="-610"/>
              <a:t>f</a:t>
            </a:r>
            <a:r>
              <a:rPr dirty="0" sz="9200" spc="-520"/>
              <a:t>o</a:t>
            </a:r>
            <a:r>
              <a:rPr dirty="0" sz="9200" spc="-490"/>
              <a:t>r</a:t>
            </a:r>
            <a:r>
              <a:rPr dirty="0" sz="9200" spc="-55"/>
              <a:t>m</a:t>
            </a:r>
            <a:endParaRPr sz="9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958" y="7629066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958" y="8191041"/>
            <a:ext cx="133350" cy="133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428" y="4031919"/>
            <a:ext cx="5577886" cy="4749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958" y="8753016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6041" y="4352850"/>
            <a:ext cx="10255250" cy="4694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3300" spc="-70" b="1">
                <a:solidFill>
                  <a:srgbClr val="EBFFF7"/>
                </a:solidFill>
                <a:latin typeface="Arial"/>
                <a:cs typeface="Arial"/>
              </a:rPr>
              <a:t>Virtual</a:t>
            </a:r>
            <a:r>
              <a:rPr dirty="0" sz="3300" spc="-175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60" b="1">
                <a:solidFill>
                  <a:srgbClr val="EBFFF7"/>
                </a:solidFill>
                <a:latin typeface="Arial"/>
                <a:cs typeface="Arial"/>
              </a:rPr>
              <a:t>net-</a:t>
            </a:r>
            <a:r>
              <a:rPr dirty="0" sz="3300" spc="-65" b="1">
                <a:solidFill>
                  <a:srgbClr val="EBFFF7"/>
                </a:solidFill>
                <a:latin typeface="Arial"/>
                <a:cs typeface="Arial"/>
              </a:rPr>
              <a:t>metering</a:t>
            </a:r>
            <a:r>
              <a:rPr dirty="0" sz="3300" spc="-175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55" b="1">
                <a:solidFill>
                  <a:srgbClr val="EBFFF7"/>
                </a:solidFill>
                <a:latin typeface="Arial"/>
                <a:cs typeface="Arial"/>
              </a:rPr>
              <a:t>for</a:t>
            </a:r>
            <a:r>
              <a:rPr dirty="0" sz="3300" spc="-17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EBFFF7"/>
                </a:solidFill>
                <a:latin typeface="Arial"/>
                <a:cs typeface="Arial"/>
              </a:rPr>
              <a:t>everyone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14900"/>
              </a:lnSpc>
            </a:pPr>
            <a:r>
              <a:rPr dirty="0" sz="3100" spc="-90">
                <a:solidFill>
                  <a:srgbClr val="EBFFF7"/>
                </a:solidFill>
                <a:latin typeface="Arial MT"/>
                <a:cs typeface="Arial MT"/>
              </a:rPr>
              <a:t>Lets</a:t>
            </a:r>
            <a:r>
              <a:rPr dirty="0" sz="31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EBFFF7"/>
                </a:solidFill>
                <a:latin typeface="Arial MT"/>
                <a:cs typeface="Arial MT"/>
              </a:rPr>
              <a:t>people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5">
                <a:solidFill>
                  <a:srgbClr val="EBFFF7"/>
                </a:solidFill>
                <a:latin typeface="Arial MT"/>
                <a:cs typeface="Arial MT"/>
              </a:rPr>
              <a:t>who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5">
                <a:solidFill>
                  <a:srgbClr val="EBFFF7"/>
                </a:solidFill>
                <a:latin typeface="Arial MT"/>
                <a:cs typeface="Arial MT"/>
              </a:rPr>
              <a:t>can't</a:t>
            </a:r>
            <a:r>
              <a:rPr dirty="0" sz="31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90">
                <a:solidFill>
                  <a:srgbClr val="EBFFF7"/>
                </a:solidFill>
                <a:latin typeface="Arial MT"/>
                <a:cs typeface="Arial MT"/>
              </a:rPr>
              <a:t>install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95">
                <a:solidFill>
                  <a:srgbClr val="EBFFF7"/>
                </a:solidFill>
                <a:latin typeface="Arial MT"/>
                <a:cs typeface="Arial MT"/>
              </a:rPr>
              <a:t>panels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35">
                <a:solidFill>
                  <a:srgbClr val="EBFFF7"/>
                </a:solidFill>
                <a:latin typeface="Arial MT"/>
                <a:cs typeface="Arial MT"/>
              </a:rPr>
              <a:t>buy</a:t>
            </a:r>
            <a:r>
              <a:rPr dirty="0" sz="31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a </a:t>
            </a:r>
            <a:r>
              <a:rPr dirty="0" sz="3100" spc="-100">
                <a:solidFill>
                  <a:srgbClr val="EBFFF7"/>
                </a:solidFill>
                <a:latin typeface="Arial MT"/>
                <a:cs typeface="Arial MT"/>
              </a:rPr>
              <a:t>share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in</a:t>
            </a:r>
            <a:r>
              <a:rPr dirty="0" sz="31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a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shared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EBFFF7"/>
                </a:solidFill>
                <a:latin typeface="Arial MT"/>
                <a:cs typeface="Arial MT"/>
              </a:rPr>
              <a:t>farm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EBFFF7"/>
                </a:solidFill>
                <a:latin typeface="Arial MT"/>
                <a:cs typeface="Arial MT"/>
              </a:rPr>
              <a:t>earn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30">
                <a:solidFill>
                  <a:srgbClr val="EBFFF7"/>
                </a:solidFill>
                <a:latin typeface="Arial MT"/>
                <a:cs typeface="Arial MT"/>
              </a:rPr>
              <a:t>bill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5">
                <a:solidFill>
                  <a:srgbClr val="EBFFF7"/>
                </a:solidFill>
                <a:latin typeface="Arial MT"/>
                <a:cs typeface="Arial MT"/>
              </a:rPr>
              <a:t>credits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EBFFF7"/>
                </a:solidFill>
                <a:latin typeface="Arial MT"/>
                <a:cs typeface="Arial MT"/>
              </a:rPr>
              <a:t>through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EBFFF7"/>
                </a:solidFill>
                <a:latin typeface="Arial MT"/>
                <a:cs typeface="Arial MT"/>
              </a:rPr>
              <a:t>virtual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net-</a:t>
            </a:r>
            <a:r>
              <a:rPr dirty="0" sz="3100" spc="-65">
                <a:solidFill>
                  <a:srgbClr val="EBFFF7"/>
                </a:solidFill>
                <a:latin typeface="Arial MT"/>
                <a:cs typeface="Arial MT"/>
              </a:rPr>
              <a:t>metering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EBFFF7"/>
                </a:solidFill>
                <a:latin typeface="Arial MT"/>
                <a:cs typeface="Arial MT"/>
              </a:rPr>
              <a:t>— </a:t>
            </a:r>
            <a:r>
              <a:rPr dirty="0" sz="3100" spc="-65">
                <a:solidFill>
                  <a:srgbClr val="EBFFF7"/>
                </a:solidFill>
                <a:latin typeface="Arial MT"/>
                <a:cs typeface="Arial MT"/>
              </a:rPr>
              <a:t>lowering</a:t>
            </a:r>
            <a:r>
              <a:rPr dirty="0" sz="31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EBFFF7"/>
                </a:solidFill>
                <a:latin typeface="Arial MT"/>
                <a:cs typeface="Arial MT"/>
              </a:rPr>
              <a:t>the</a:t>
            </a:r>
            <a:r>
              <a:rPr dirty="0" sz="31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5">
                <a:solidFill>
                  <a:srgbClr val="EBFFF7"/>
                </a:solidFill>
                <a:latin typeface="Arial MT"/>
                <a:cs typeface="Arial MT"/>
              </a:rPr>
              <a:t>upfront</a:t>
            </a:r>
            <a:r>
              <a:rPr dirty="0" sz="31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5">
                <a:solidFill>
                  <a:srgbClr val="EBFFF7"/>
                </a:solidFill>
                <a:latin typeface="Arial MT"/>
                <a:cs typeface="Arial MT"/>
              </a:rPr>
              <a:t>cost</a:t>
            </a:r>
            <a:r>
              <a:rPr dirty="0" sz="31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barrier.</a:t>
            </a:r>
            <a:endParaRPr sz="31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620"/>
              </a:spcBef>
            </a:pP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Invest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in</a:t>
            </a:r>
            <a:r>
              <a:rPr dirty="0" sz="32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EBFFF7"/>
                </a:solidFill>
                <a:latin typeface="Arial MT"/>
                <a:cs typeface="Arial MT"/>
              </a:rPr>
              <a:t>without</a:t>
            </a:r>
            <a:r>
              <a:rPr dirty="0" sz="320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5">
                <a:solidFill>
                  <a:srgbClr val="EBFFF7"/>
                </a:solidFill>
                <a:latin typeface="Arial MT"/>
                <a:cs typeface="Arial MT"/>
              </a:rPr>
              <a:t>owning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10">
                <a:solidFill>
                  <a:srgbClr val="EBFFF7"/>
                </a:solidFill>
                <a:latin typeface="Arial MT"/>
                <a:cs typeface="Arial MT"/>
              </a:rPr>
              <a:t>a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rooftop</a:t>
            </a:r>
            <a:endParaRPr sz="3200">
              <a:latin typeface="Arial MT"/>
              <a:cs typeface="Arial MT"/>
            </a:endParaRPr>
          </a:p>
          <a:p>
            <a:pPr marL="202565" marR="688975">
              <a:lnSpc>
                <a:spcPct val="115199"/>
              </a:lnSpc>
              <a:spcBef>
                <a:spcPts val="5"/>
              </a:spcBef>
            </a:pP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Earn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EBFFF7"/>
                </a:solidFill>
                <a:latin typeface="Arial MT"/>
                <a:cs typeface="Arial MT"/>
              </a:rPr>
              <a:t>credits</a:t>
            </a:r>
            <a:r>
              <a:rPr dirty="0" sz="3200" spc="-1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on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35">
                <a:solidFill>
                  <a:srgbClr val="EBFFF7"/>
                </a:solidFill>
                <a:latin typeface="Arial MT"/>
                <a:cs typeface="Arial MT"/>
              </a:rPr>
              <a:t>electricity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5">
                <a:solidFill>
                  <a:srgbClr val="EBFFF7"/>
                </a:solidFill>
                <a:latin typeface="Arial MT"/>
                <a:cs typeface="Arial MT"/>
              </a:rPr>
              <a:t>bills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90">
                <a:solidFill>
                  <a:srgbClr val="EBFFF7"/>
                </a:solidFill>
                <a:latin typeface="Arial MT"/>
                <a:cs typeface="Arial MT"/>
              </a:rPr>
              <a:t>via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EBFFF7"/>
                </a:solidFill>
                <a:latin typeface="Arial MT"/>
                <a:cs typeface="Arial MT"/>
              </a:rPr>
              <a:t>virtual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net-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metering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Opens</a:t>
            </a:r>
            <a:r>
              <a:rPr dirty="0" sz="320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clean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5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to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5">
                <a:solidFill>
                  <a:srgbClr val="EBFFF7"/>
                </a:solidFill>
                <a:latin typeface="Arial MT"/>
                <a:cs typeface="Arial MT"/>
              </a:rPr>
              <a:t>renters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50">
                <a:solidFill>
                  <a:srgbClr val="EBFFF7"/>
                </a:solidFill>
                <a:latin typeface="Arial MT"/>
                <a:cs typeface="Arial MT"/>
              </a:rPr>
              <a:t>apartment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35">
                <a:solidFill>
                  <a:srgbClr val="EBFFF7"/>
                </a:solidFill>
                <a:latin typeface="Arial MT"/>
                <a:cs typeface="Arial MT"/>
              </a:rPr>
              <a:t>dwellers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8610" rIns="0" bIns="0" rtlCol="0" vert="horz">
            <a:spAutoFit/>
          </a:bodyPr>
          <a:lstStyle/>
          <a:p>
            <a:pPr marL="12700" marR="5080">
              <a:lnSpc>
                <a:spcPct val="79100"/>
              </a:lnSpc>
              <a:spcBef>
                <a:spcPts val="2430"/>
              </a:spcBef>
            </a:pPr>
            <a:r>
              <a:rPr dirty="0" sz="9200" spc="-409"/>
              <a:t>Solar</a:t>
            </a:r>
            <a:r>
              <a:rPr dirty="0" sz="9200" spc="-944"/>
              <a:t> </a:t>
            </a:r>
            <a:r>
              <a:rPr dirty="0" sz="9200" spc="-520"/>
              <a:t>I</a:t>
            </a:r>
            <a:r>
              <a:rPr dirty="0" sz="9200" spc="-465"/>
              <a:t>m</a:t>
            </a:r>
            <a:r>
              <a:rPr dirty="0" sz="9200" spc="-455"/>
              <a:t>p</a:t>
            </a:r>
            <a:r>
              <a:rPr dirty="0" sz="9200" spc="-495"/>
              <a:t>a</a:t>
            </a:r>
            <a:r>
              <a:rPr dirty="0" sz="9200" spc="-445"/>
              <a:t>c</a:t>
            </a:r>
            <a:r>
              <a:rPr dirty="0" sz="9200"/>
              <a:t>t</a:t>
            </a:r>
            <a:r>
              <a:rPr dirty="0" sz="9200" spc="-935"/>
              <a:t> </a:t>
            </a:r>
            <a:r>
              <a:rPr dirty="0" sz="9200" spc="180"/>
              <a:t>&amp;</a:t>
            </a:r>
            <a:r>
              <a:rPr dirty="0" sz="9200" spc="-944"/>
              <a:t> </a:t>
            </a:r>
            <a:r>
              <a:rPr dirty="0" sz="9200" spc="-785"/>
              <a:t>R</a:t>
            </a:r>
            <a:r>
              <a:rPr dirty="0" sz="9200" spc="-750"/>
              <a:t>e</a:t>
            </a:r>
            <a:r>
              <a:rPr dirty="0" sz="9200" spc="-690"/>
              <a:t>w</a:t>
            </a:r>
            <a:r>
              <a:rPr dirty="0" sz="9200" spc="-630"/>
              <a:t>a</a:t>
            </a:r>
            <a:r>
              <a:rPr dirty="0" sz="9200" spc="-650"/>
              <a:t>r</a:t>
            </a:r>
            <a:r>
              <a:rPr dirty="0" sz="9200" spc="-590"/>
              <a:t>d</a:t>
            </a:r>
            <a:r>
              <a:rPr dirty="0" sz="9200" spc="-135"/>
              <a:t>s</a:t>
            </a:r>
            <a:r>
              <a:rPr dirty="0" sz="9200" spc="-605"/>
              <a:t> </a:t>
            </a:r>
            <a:r>
              <a:rPr dirty="0" sz="9200" spc="-1460"/>
              <a:t>T</a:t>
            </a:r>
            <a:r>
              <a:rPr dirty="0" sz="9200" spc="-425"/>
              <a:t>r</a:t>
            </a:r>
            <a:r>
              <a:rPr dirty="0" sz="9200" spc="-484"/>
              <a:t>a</a:t>
            </a:r>
            <a:r>
              <a:rPr dirty="0" sz="9200" spc="-434"/>
              <a:t>c</a:t>
            </a:r>
            <a:r>
              <a:rPr dirty="0" sz="9200" spc="-700"/>
              <a:t>k</a:t>
            </a:r>
            <a:r>
              <a:rPr dirty="0" sz="9200" spc="-465"/>
              <a:t>e</a:t>
            </a:r>
            <a:r>
              <a:rPr dirty="0" sz="9200" spc="10"/>
              <a:t>r</a:t>
            </a:r>
            <a:r>
              <a:rPr dirty="0" sz="9200" spc="-885"/>
              <a:t> </a:t>
            </a:r>
            <a:r>
              <a:rPr dirty="0" sz="9200" spc="-675"/>
              <a:t>(</a:t>
            </a:r>
            <a:r>
              <a:rPr dirty="0" sz="9200" spc="-685"/>
              <a:t>S</a:t>
            </a:r>
            <a:r>
              <a:rPr dirty="0" sz="9200" spc="-730"/>
              <a:t>I</a:t>
            </a:r>
            <a:r>
              <a:rPr dirty="0" sz="9200" spc="-735"/>
              <a:t>R</a:t>
            </a:r>
            <a:r>
              <a:rPr dirty="0" sz="9200" spc="-459"/>
              <a:t>T</a:t>
            </a:r>
            <a:r>
              <a:rPr dirty="0" sz="9200" spc="-210"/>
              <a:t>)</a:t>
            </a:r>
            <a:endParaRPr sz="9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958" y="7629066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958" y="8191041"/>
            <a:ext cx="133350" cy="133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428" y="3403011"/>
            <a:ext cx="6316433" cy="53787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958" y="8753016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6041" y="4352850"/>
            <a:ext cx="9940290" cy="4694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4345">
              <a:lnSpc>
                <a:spcPct val="100000"/>
              </a:lnSpc>
              <a:spcBef>
                <a:spcPts val="100"/>
              </a:spcBef>
            </a:pPr>
            <a:r>
              <a:rPr dirty="0" sz="3300" spc="-90" b="1">
                <a:solidFill>
                  <a:srgbClr val="EBFFF7"/>
                </a:solidFill>
                <a:latin typeface="Arial"/>
                <a:cs typeface="Arial"/>
              </a:rPr>
              <a:t>Gamified</a:t>
            </a:r>
            <a:r>
              <a:rPr dirty="0" sz="3300" spc="-18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85" b="1">
                <a:solidFill>
                  <a:srgbClr val="EBFFF7"/>
                </a:solidFill>
                <a:latin typeface="Arial"/>
                <a:cs typeface="Arial"/>
              </a:rPr>
              <a:t>rooftop</a:t>
            </a:r>
            <a:r>
              <a:rPr dirty="0" sz="3300" spc="-175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100" b="1">
                <a:solidFill>
                  <a:srgbClr val="EBFFF7"/>
                </a:solidFill>
                <a:latin typeface="Arial"/>
                <a:cs typeface="Arial"/>
              </a:rPr>
              <a:t>solar</a:t>
            </a:r>
            <a:r>
              <a:rPr dirty="0" sz="3300" spc="-18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EBFFF7"/>
                </a:solidFill>
                <a:latin typeface="Arial"/>
                <a:cs typeface="Arial"/>
              </a:rPr>
              <a:t>adoption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14900"/>
              </a:lnSpc>
            </a:pPr>
            <a:r>
              <a:rPr dirty="0" sz="3100">
                <a:solidFill>
                  <a:srgbClr val="EBFFF7"/>
                </a:solidFill>
                <a:latin typeface="Arial MT"/>
                <a:cs typeface="Arial MT"/>
              </a:rPr>
              <a:t>A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EBFFF7"/>
                </a:solidFill>
                <a:latin typeface="Arial MT"/>
                <a:cs typeface="Arial MT"/>
              </a:rPr>
              <a:t>web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EBFFF7"/>
                </a:solidFill>
                <a:latin typeface="Arial MT"/>
                <a:cs typeface="Arial MT"/>
              </a:rPr>
              <a:t>platform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EBFFF7"/>
                </a:solidFill>
                <a:latin typeface="Arial MT"/>
                <a:cs typeface="Arial MT"/>
              </a:rPr>
              <a:t>that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EBFFF7"/>
                </a:solidFill>
                <a:latin typeface="Arial MT"/>
                <a:cs typeface="Arial MT"/>
              </a:rPr>
              <a:t>turns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5">
                <a:solidFill>
                  <a:srgbClr val="EBFFF7"/>
                </a:solidFill>
                <a:latin typeface="Arial MT"/>
                <a:cs typeface="Arial MT"/>
              </a:rPr>
              <a:t>rooftop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EBFFF7"/>
                </a:solidFill>
                <a:latin typeface="Arial MT"/>
                <a:cs typeface="Arial MT"/>
              </a:rPr>
              <a:t>into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a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rewarding </a:t>
            </a:r>
            <a:r>
              <a:rPr dirty="0" sz="3100" spc="-60">
                <a:solidFill>
                  <a:srgbClr val="EBFFF7"/>
                </a:solidFill>
                <a:latin typeface="Arial MT"/>
                <a:cs typeface="Arial MT"/>
              </a:rPr>
              <a:t>experience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EBFFF7"/>
                </a:solidFill>
                <a:latin typeface="Arial MT"/>
                <a:cs typeface="Arial MT"/>
              </a:rPr>
              <a:t>—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5">
                <a:solidFill>
                  <a:srgbClr val="EBFFF7"/>
                </a:solidFill>
                <a:latin typeface="Arial MT"/>
                <a:cs typeface="Arial MT"/>
              </a:rPr>
              <a:t>tracking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14">
                <a:solidFill>
                  <a:srgbClr val="EBFFF7"/>
                </a:solidFill>
                <a:latin typeface="Arial MT"/>
                <a:cs typeface="Arial MT"/>
              </a:rPr>
              <a:t>savings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5">
                <a:solidFill>
                  <a:srgbClr val="EBFFF7"/>
                </a:solidFill>
                <a:latin typeface="Arial MT"/>
                <a:cs typeface="Arial MT"/>
              </a:rPr>
              <a:t>CO2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5">
                <a:solidFill>
                  <a:srgbClr val="EBFFF7"/>
                </a:solidFill>
                <a:latin typeface="Arial MT"/>
                <a:cs typeface="Arial MT"/>
              </a:rPr>
              <a:t>impact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65">
                <a:solidFill>
                  <a:srgbClr val="EBFFF7"/>
                </a:solidFill>
                <a:latin typeface="Arial MT"/>
                <a:cs typeface="Arial MT"/>
              </a:rPr>
              <a:t>while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using </a:t>
            </a:r>
            <a:r>
              <a:rPr dirty="0" sz="3100" spc="-80">
                <a:solidFill>
                  <a:srgbClr val="EBFFF7"/>
                </a:solidFill>
                <a:latin typeface="Arial MT"/>
                <a:cs typeface="Arial MT"/>
              </a:rPr>
              <a:t>points,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badges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EBFFF7"/>
                </a:solidFill>
                <a:latin typeface="Arial MT"/>
                <a:cs typeface="Arial MT"/>
              </a:rPr>
              <a:t>leaderboards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EBFFF7"/>
                </a:solidFill>
                <a:latin typeface="Arial MT"/>
                <a:cs typeface="Arial MT"/>
              </a:rPr>
              <a:t>to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5">
                <a:solidFill>
                  <a:srgbClr val="EBFFF7"/>
                </a:solidFill>
                <a:latin typeface="Arial MT"/>
                <a:cs typeface="Arial MT"/>
              </a:rPr>
              <a:t>drive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adoption.</a:t>
            </a:r>
            <a:endParaRPr sz="3100">
              <a:latin typeface="Arial MT"/>
              <a:cs typeface="Arial MT"/>
            </a:endParaRPr>
          </a:p>
          <a:p>
            <a:pPr marL="202565" marR="1212850">
              <a:lnSpc>
                <a:spcPct val="115199"/>
              </a:lnSpc>
              <a:spcBef>
                <a:spcPts val="2040"/>
              </a:spcBef>
            </a:pP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Real-</a:t>
            </a:r>
            <a:r>
              <a:rPr dirty="0" sz="3200" spc="-45">
                <a:solidFill>
                  <a:srgbClr val="EBFFF7"/>
                </a:solidFill>
                <a:latin typeface="Arial MT"/>
                <a:cs typeface="Arial MT"/>
              </a:rPr>
              <a:t>time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14">
                <a:solidFill>
                  <a:srgbClr val="EBFFF7"/>
                </a:solidFill>
                <a:latin typeface="Arial MT"/>
                <a:cs typeface="Arial MT"/>
              </a:rPr>
              <a:t>savings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CO2</a:t>
            </a:r>
            <a:r>
              <a:rPr dirty="0" sz="3200" spc="-1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EBFFF7"/>
                </a:solidFill>
                <a:latin typeface="Arial MT"/>
                <a:cs typeface="Arial MT"/>
              </a:rPr>
              <a:t>impact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dashboard 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Points,</a:t>
            </a:r>
            <a:r>
              <a:rPr dirty="0" sz="32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5">
                <a:solidFill>
                  <a:srgbClr val="EBFFF7"/>
                </a:solidFill>
                <a:latin typeface="Arial MT"/>
                <a:cs typeface="Arial MT"/>
              </a:rPr>
              <a:t>badges</a:t>
            </a:r>
            <a:r>
              <a:rPr dirty="0" sz="3200" spc="-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200" spc="-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leaderboards</a:t>
            </a:r>
            <a:r>
              <a:rPr dirty="0" sz="3200" spc="-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90">
                <a:solidFill>
                  <a:srgbClr val="EBFFF7"/>
                </a:solidFill>
                <a:latin typeface="Arial MT"/>
                <a:cs typeface="Arial MT"/>
              </a:rPr>
              <a:t>motivate</a:t>
            </a:r>
            <a:r>
              <a:rPr dirty="0" sz="32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uptake 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Turns</a:t>
            </a:r>
            <a:r>
              <a:rPr dirty="0" sz="3200" spc="-1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abstract</a:t>
            </a: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benefits</a:t>
            </a:r>
            <a:r>
              <a:rPr dirty="0" sz="3200" spc="-1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35">
                <a:solidFill>
                  <a:srgbClr val="EBFFF7"/>
                </a:solidFill>
                <a:latin typeface="Arial MT"/>
                <a:cs typeface="Arial MT"/>
              </a:rPr>
              <a:t>into</a:t>
            </a: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95">
                <a:solidFill>
                  <a:srgbClr val="EBFFF7"/>
                </a:solidFill>
                <a:latin typeface="Arial MT"/>
                <a:cs typeface="Arial MT"/>
              </a:rPr>
              <a:t>visible,</a:t>
            </a: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0">
                <a:solidFill>
                  <a:srgbClr val="EBFFF7"/>
                </a:solidFill>
                <a:latin typeface="Arial MT"/>
                <a:cs typeface="Arial MT"/>
              </a:rPr>
              <a:t>shareable</a:t>
            </a:r>
            <a:r>
              <a:rPr dirty="0" sz="3200" spc="-1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EBFFF7"/>
                </a:solidFill>
                <a:latin typeface="Arial MT"/>
                <a:cs typeface="Arial MT"/>
              </a:rPr>
              <a:t>wins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719795"/>
            <a:ext cx="8109584" cy="3369945"/>
          </a:xfrm>
          <a:prstGeom prst="rect"/>
        </p:spPr>
        <p:txBody>
          <a:bodyPr wrap="square" lIns="0" tIns="285750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2250"/>
              </a:spcBef>
            </a:pPr>
            <a:r>
              <a:rPr dirty="0" spc="-710"/>
              <a:t>R</a:t>
            </a:r>
            <a:r>
              <a:rPr dirty="0" spc="-550"/>
              <a:t>e</a:t>
            </a:r>
            <a:r>
              <a:rPr dirty="0" spc="-540"/>
              <a:t>n</a:t>
            </a:r>
            <a:r>
              <a:rPr dirty="0" spc="-680"/>
              <a:t>e</a:t>
            </a:r>
            <a:r>
              <a:rPr dirty="0" spc="-620"/>
              <a:t>w</a:t>
            </a:r>
            <a:r>
              <a:rPr dirty="0" spc="-570"/>
              <a:t>a</a:t>
            </a:r>
            <a:r>
              <a:rPr dirty="0" spc="-530"/>
              <a:t>b</a:t>
            </a:r>
            <a:r>
              <a:rPr dirty="0" spc="-540"/>
              <a:t>l</a:t>
            </a:r>
            <a:r>
              <a:rPr dirty="0" spc="-110"/>
              <a:t>e</a:t>
            </a:r>
            <a:r>
              <a:rPr dirty="0" spc="-880"/>
              <a:t> </a:t>
            </a:r>
            <a:r>
              <a:rPr dirty="0" spc="-630"/>
              <a:t>E</a:t>
            </a:r>
            <a:r>
              <a:rPr dirty="0" spc="-505"/>
              <a:t>n</a:t>
            </a:r>
            <a:r>
              <a:rPr dirty="0" spc="-515"/>
              <a:t>e</a:t>
            </a:r>
            <a:r>
              <a:rPr dirty="0" spc="-550"/>
              <a:t>r</a:t>
            </a:r>
            <a:r>
              <a:rPr dirty="0" spc="-565"/>
              <a:t>g</a:t>
            </a:r>
            <a:r>
              <a:rPr dirty="0" spc="-75"/>
              <a:t>y</a:t>
            </a:r>
            <a:r>
              <a:rPr dirty="0" spc="-475"/>
              <a:t> </a:t>
            </a:r>
            <a:r>
              <a:rPr dirty="0" spc="-509"/>
              <a:t>S</a:t>
            </a:r>
            <a:r>
              <a:rPr dirty="0" spc="-440"/>
              <a:t>ui</a:t>
            </a:r>
            <a:r>
              <a:rPr dirty="0" spc="-425"/>
              <a:t>t</a:t>
            </a:r>
            <a:r>
              <a:rPr dirty="0" spc="-470"/>
              <a:t>a</a:t>
            </a:r>
            <a:r>
              <a:rPr dirty="0" spc="-430"/>
              <a:t>b</a:t>
            </a:r>
            <a:r>
              <a:rPr dirty="0" spc="-440"/>
              <a:t>ili</a:t>
            </a:r>
            <a:r>
              <a:rPr dirty="0" spc="-305"/>
              <a:t>t</a:t>
            </a:r>
            <a:r>
              <a:rPr dirty="0" spc="-10"/>
              <a:t>y</a:t>
            </a:r>
            <a:r>
              <a:rPr dirty="0" spc="-844"/>
              <a:t> </a:t>
            </a:r>
            <a:r>
              <a:rPr dirty="0" spc="110"/>
              <a:t>&amp;</a:t>
            </a:r>
            <a:r>
              <a:rPr dirty="0" spc="-855"/>
              <a:t> </a:t>
            </a:r>
            <a:r>
              <a:rPr dirty="0" spc="-390"/>
              <a:t>Site </a:t>
            </a:r>
            <a:r>
              <a:rPr dirty="0" spc="-484"/>
              <a:t>Assessment</a:t>
            </a:r>
            <a:r>
              <a:rPr dirty="0" spc="-840"/>
              <a:t> </a:t>
            </a:r>
            <a:r>
              <a:rPr dirty="0" spc="-1505"/>
              <a:t>T</a:t>
            </a:r>
            <a:r>
              <a:rPr dirty="0" spc="-490"/>
              <a:t>oo</a:t>
            </a:r>
            <a:r>
              <a:rPr dirty="0" spc="-60"/>
              <a:t>l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958" y="7629066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958" y="8191041"/>
            <a:ext cx="133350" cy="133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428" y="3403011"/>
            <a:ext cx="6316433" cy="53787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958" y="8753016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6041" y="4352850"/>
            <a:ext cx="10261600" cy="4694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6825">
              <a:lnSpc>
                <a:spcPct val="100000"/>
              </a:lnSpc>
              <a:spcBef>
                <a:spcPts val="100"/>
              </a:spcBef>
            </a:pPr>
            <a:r>
              <a:rPr dirty="0" sz="3300" spc="-114" b="1">
                <a:solidFill>
                  <a:srgbClr val="EBFFF7"/>
                </a:solidFill>
                <a:latin typeface="Arial"/>
                <a:cs typeface="Arial"/>
              </a:rPr>
              <a:t>Know</a:t>
            </a:r>
            <a:r>
              <a:rPr dirty="0" sz="3300" spc="-20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65" b="1">
                <a:solidFill>
                  <a:srgbClr val="EBFFF7"/>
                </a:solidFill>
                <a:latin typeface="Arial"/>
                <a:cs typeface="Arial"/>
              </a:rPr>
              <a:t>before</a:t>
            </a:r>
            <a:r>
              <a:rPr dirty="0" sz="3300" spc="-200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114" b="1">
                <a:solidFill>
                  <a:srgbClr val="EBFFF7"/>
                </a:solidFill>
                <a:latin typeface="Arial"/>
                <a:cs typeface="Arial"/>
              </a:rPr>
              <a:t>you</a:t>
            </a:r>
            <a:r>
              <a:rPr dirty="0" sz="3300" spc="-195" b="1">
                <a:solidFill>
                  <a:srgbClr val="EBFFF7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EBFFF7"/>
                </a:solidFill>
                <a:latin typeface="Arial"/>
                <a:cs typeface="Arial"/>
              </a:rPr>
              <a:t>install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14900"/>
              </a:lnSpc>
            </a:pP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Assesses 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a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EBFFF7"/>
                </a:solidFill>
                <a:latin typeface="Arial MT"/>
                <a:cs typeface="Arial MT"/>
              </a:rPr>
              <a:t>location's</a:t>
            </a:r>
            <a:r>
              <a:rPr dirty="0" sz="3100" spc="-11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solar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EBFFF7"/>
                </a:solidFill>
                <a:latin typeface="Arial MT"/>
                <a:cs typeface="Arial MT"/>
              </a:rPr>
              <a:t>or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EBFFF7"/>
                </a:solidFill>
                <a:latin typeface="Arial MT"/>
                <a:cs typeface="Arial MT"/>
              </a:rPr>
              <a:t>wind</a:t>
            </a:r>
            <a:r>
              <a:rPr dirty="0" sz="3100" spc="-11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0">
                <a:solidFill>
                  <a:srgbClr val="EBFFF7"/>
                </a:solidFill>
                <a:latin typeface="Arial MT"/>
                <a:cs typeface="Arial MT"/>
              </a:rPr>
              <a:t>potential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EBFFF7"/>
                </a:solidFill>
                <a:latin typeface="Arial MT"/>
                <a:cs typeface="Arial MT"/>
              </a:rPr>
              <a:t>using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EBFFF7"/>
                </a:solidFill>
                <a:latin typeface="Arial MT"/>
                <a:cs typeface="Arial MT"/>
              </a:rPr>
              <a:t>site</a:t>
            </a:r>
            <a:r>
              <a:rPr dirty="0" sz="3100" spc="-11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5">
                <a:solidFill>
                  <a:srgbClr val="EBFFF7"/>
                </a:solidFill>
                <a:latin typeface="Arial MT"/>
                <a:cs typeface="Arial MT"/>
              </a:rPr>
              <a:t>data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EBFFF7"/>
                </a:solidFill>
                <a:latin typeface="Arial MT"/>
                <a:cs typeface="Arial MT"/>
              </a:rPr>
              <a:t>— </a:t>
            </a:r>
            <a:r>
              <a:rPr dirty="0" sz="3100" spc="-45">
                <a:solidFill>
                  <a:srgbClr val="EBFFF7"/>
                </a:solidFill>
                <a:latin typeface="Arial MT"/>
                <a:cs typeface="Arial MT"/>
              </a:rPr>
              <a:t>roof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14">
                <a:solidFill>
                  <a:srgbClr val="EBFFF7"/>
                </a:solidFill>
                <a:latin typeface="Arial MT"/>
                <a:cs typeface="Arial MT"/>
              </a:rPr>
              <a:t>angle,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0">
                <a:solidFill>
                  <a:srgbClr val="EBFFF7"/>
                </a:solidFill>
                <a:latin typeface="Arial MT"/>
                <a:cs typeface="Arial MT"/>
              </a:rPr>
              <a:t>shading,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EBFFF7"/>
                </a:solidFill>
                <a:latin typeface="Arial MT"/>
                <a:cs typeface="Arial MT"/>
              </a:rPr>
              <a:t>sunlight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space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EBFFF7"/>
                </a:solidFill>
                <a:latin typeface="Arial MT"/>
                <a:cs typeface="Arial MT"/>
              </a:rPr>
              <a:t>—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5">
                <a:solidFill>
                  <a:srgbClr val="EBFFF7"/>
                </a:solidFill>
                <a:latin typeface="Arial MT"/>
                <a:cs typeface="Arial MT"/>
              </a:rPr>
              <a:t>so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80">
                <a:solidFill>
                  <a:srgbClr val="EBFFF7"/>
                </a:solidFill>
                <a:latin typeface="Arial MT"/>
                <a:cs typeface="Arial MT"/>
              </a:rPr>
              <a:t>users</a:t>
            </a:r>
            <a:r>
              <a:rPr dirty="0" sz="31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EBFFF7"/>
                </a:solidFill>
                <a:latin typeface="Arial MT"/>
                <a:cs typeface="Arial MT"/>
              </a:rPr>
              <a:t>get</a:t>
            </a:r>
            <a:r>
              <a:rPr dirty="0" sz="31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25">
                <a:solidFill>
                  <a:srgbClr val="EBFFF7"/>
                </a:solidFill>
                <a:latin typeface="Arial MT"/>
                <a:cs typeface="Arial MT"/>
              </a:rPr>
              <a:t>an </a:t>
            </a:r>
            <a:r>
              <a:rPr dirty="0" sz="3100" spc="-75">
                <a:solidFill>
                  <a:srgbClr val="EBFFF7"/>
                </a:solidFill>
                <a:latin typeface="Arial MT"/>
                <a:cs typeface="Arial MT"/>
              </a:rPr>
              <a:t>accurate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5">
                <a:solidFill>
                  <a:srgbClr val="EBFFF7"/>
                </a:solidFill>
                <a:latin typeface="Arial MT"/>
                <a:cs typeface="Arial MT"/>
              </a:rPr>
              <a:t>feasibility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report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70">
                <a:solidFill>
                  <a:srgbClr val="EBFFF7"/>
                </a:solidFill>
                <a:latin typeface="Arial MT"/>
                <a:cs typeface="Arial MT"/>
              </a:rPr>
              <a:t>before</a:t>
            </a:r>
            <a:r>
              <a:rPr dirty="0" sz="31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EBFFF7"/>
                </a:solidFill>
                <a:latin typeface="Arial MT"/>
                <a:cs typeface="Arial MT"/>
              </a:rPr>
              <a:t>investing.</a:t>
            </a:r>
            <a:endParaRPr sz="31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620"/>
              </a:spcBef>
            </a:pPr>
            <a:r>
              <a:rPr dirty="0" sz="3200" spc="-145">
                <a:solidFill>
                  <a:srgbClr val="EBFFF7"/>
                </a:solidFill>
                <a:latin typeface="Arial MT"/>
                <a:cs typeface="Arial MT"/>
              </a:rPr>
              <a:t>Evaluates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5">
                <a:solidFill>
                  <a:srgbClr val="EBFFF7"/>
                </a:solidFill>
                <a:latin typeface="Arial MT"/>
                <a:cs typeface="Arial MT"/>
              </a:rPr>
              <a:t>solar/wind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5">
                <a:solidFill>
                  <a:srgbClr val="EBFFF7"/>
                </a:solidFill>
                <a:latin typeface="Arial MT"/>
                <a:cs typeface="Arial MT"/>
              </a:rPr>
              <a:t>potential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for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85">
                <a:solidFill>
                  <a:srgbClr val="EBFFF7"/>
                </a:solidFill>
                <a:latin typeface="Arial MT"/>
                <a:cs typeface="Arial MT"/>
              </a:rPr>
              <a:t>any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EBFFF7"/>
                </a:solidFill>
                <a:latin typeface="Arial MT"/>
                <a:cs typeface="Arial MT"/>
              </a:rPr>
              <a:t>site</a:t>
            </a:r>
            <a:endParaRPr sz="3200">
              <a:latin typeface="Arial MT"/>
              <a:cs typeface="Arial MT"/>
            </a:endParaRPr>
          </a:p>
          <a:p>
            <a:pPr marL="202565" marR="1167765">
              <a:lnSpc>
                <a:spcPct val="115199"/>
              </a:lnSpc>
              <a:spcBef>
                <a:spcPts val="5"/>
              </a:spcBef>
            </a:pP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Factors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in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95">
                <a:solidFill>
                  <a:srgbClr val="EBFFF7"/>
                </a:solidFill>
                <a:latin typeface="Arial MT"/>
                <a:cs typeface="Arial MT"/>
              </a:rPr>
              <a:t>shading,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orientation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14">
                <a:solidFill>
                  <a:srgbClr val="EBFFF7"/>
                </a:solidFill>
                <a:latin typeface="Arial MT"/>
                <a:cs typeface="Arial MT"/>
              </a:rPr>
              <a:t>available</a:t>
            </a:r>
            <a:r>
              <a:rPr dirty="0" sz="3200" spc="-12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space 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Removes</a:t>
            </a: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95">
                <a:solidFill>
                  <a:srgbClr val="EBFFF7"/>
                </a:solidFill>
                <a:latin typeface="Arial MT"/>
                <a:cs typeface="Arial MT"/>
              </a:rPr>
              <a:t>guesswork</a:t>
            </a: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2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reduces</a:t>
            </a: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5">
                <a:solidFill>
                  <a:srgbClr val="EBFFF7"/>
                </a:solidFill>
                <a:latin typeface="Arial MT"/>
                <a:cs typeface="Arial MT"/>
              </a:rPr>
              <a:t>failed</a:t>
            </a:r>
            <a:r>
              <a:rPr dirty="0" sz="3200" spc="-1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installations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0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2250"/>
              </a:spcBef>
            </a:pPr>
            <a:r>
              <a:rPr dirty="0" spc="-710"/>
              <a:t>R</a:t>
            </a:r>
            <a:r>
              <a:rPr dirty="0" spc="-550"/>
              <a:t>e</a:t>
            </a:r>
            <a:r>
              <a:rPr dirty="0" spc="-540"/>
              <a:t>n</a:t>
            </a:r>
            <a:r>
              <a:rPr dirty="0" spc="-680"/>
              <a:t>e</a:t>
            </a:r>
            <a:r>
              <a:rPr dirty="0" spc="-620"/>
              <a:t>w</a:t>
            </a:r>
            <a:r>
              <a:rPr dirty="0" spc="-570"/>
              <a:t>a</a:t>
            </a:r>
            <a:r>
              <a:rPr dirty="0" spc="-530"/>
              <a:t>b</a:t>
            </a:r>
            <a:r>
              <a:rPr dirty="0" spc="-540"/>
              <a:t>l</a:t>
            </a:r>
            <a:r>
              <a:rPr dirty="0" spc="-110"/>
              <a:t>e</a:t>
            </a:r>
            <a:r>
              <a:rPr dirty="0" spc="-880"/>
              <a:t> </a:t>
            </a:r>
            <a:r>
              <a:rPr dirty="0" spc="-630"/>
              <a:t>E</a:t>
            </a:r>
            <a:r>
              <a:rPr dirty="0" spc="-505"/>
              <a:t>n</a:t>
            </a:r>
            <a:r>
              <a:rPr dirty="0" spc="-515"/>
              <a:t>e</a:t>
            </a:r>
            <a:r>
              <a:rPr dirty="0" spc="-550"/>
              <a:t>r</a:t>
            </a:r>
            <a:r>
              <a:rPr dirty="0" spc="-565"/>
              <a:t>g</a:t>
            </a:r>
            <a:r>
              <a:rPr dirty="0" spc="-75"/>
              <a:t>y</a:t>
            </a:r>
            <a:r>
              <a:rPr dirty="0" spc="-475"/>
              <a:t> </a:t>
            </a:r>
            <a:r>
              <a:rPr dirty="0" spc="-470"/>
              <a:t>A</a:t>
            </a:r>
            <a:r>
              <a:rPr dirty="0" spc="-380"/>
              <a:t>d</a:t>
            </a:r>
            <a:r>
              <a:rPr dirty="0" spc="-390"/>
              <a:t>o</a:t>
            </a:r>
            <a:r>
              <a:rPr dirty="0" spc="-459"/>
              <a:t>p</a:t>
            </a:r>
            <a:r>
              <a:rPr dirty="0" spc="-375"/>
              <a:t>t</a:t>
            </a:r>
            <a:r>
              <a:rPr dirty="0" spc="-390"/>
              <a:t>io</a:t>
            </a:r>
            <a:r>
              <a:rPr dirty="0" spc="40"/>
              <a:t>n</a:t>
            </a:r>
            <a:r>
              <a:rPr dirty="0" spc="-850"/>
              <a:t> </a:t>
            </a:r>
            <a:r>
              <a:rPr dirty="0" spc="-345"/>
              <a:t>Barrier</a:t>
            </a:r>
            <a:r>
              <a:rPr dirty="0" spc="-860"/>
              <a:t> </a:t>
            </a:r>
            <a:r>
              <a:rPr dirty="0" spc="-505"/>
              <a:t>A</a:t>
            </a:r>
            <a:r>
              <a:rPr dirty="0" spc="-415"/>
              <a:t>d</a:t>
            </a:r>
            <a:r>
              <a:rPr dirty="0" spc="-434"/>
              <a:t>v</a:t>
            </a:r>
            <a:r>
              <a:rPr dirty="0" spc="-425"/>
              <a:t>i</a:t>
            </a:r>
            <a:r>
              <a:rPr dirty="0" spc="-450"/>
              <a:t>s</a:t>
            </a:r>
            <a:r>
              <a:rPr dirty="0" spc="-425"/>
              <a:t>o</a:t>
            </a:r>
            <a:r>
              <a:rPr dirty="0" spc="5"/>
              <a:t>r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958" y="7629066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958" y="8191041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958" y="8753016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5786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Guidance</a:t>
            </a:r>
            <a:r>
              <a:rPr dirty="0" spc="-195"/>
              <a:t> </a:t>
            </a:r>
            <a:r>
              <a:rPr dirty="0" spc="-105"/>
              <a:t>past</a:t>
            </a:r>
            <a:r>
              <a:rPr dirty="0" spc="-190"/>
              <a:t> </a:t>
            </a:r>
            <a:r>
              <a:rPr dirty="0" spc="-45"/>
              <a:t>the</a:t>
            </a:r>
            <a:r>
              <a:rPr dirty="0" spc="-190"/>
              <a:t> </a:t>
            </a:r>
            <a:r>
              <a:rPr dirty="0" spc="-10"/>
              <a:t>roadblocks</a:t>
            </a:r>
          </a:p>
          <a:p>
            <a:pPr>
              <a:lnSpc>
                <a:spcPct val="100000"/>
              </a:lnSpc>
              <a:spcBef>
                <a:spcPts val="869"/>
              </a:spcBef>
            </a:pPr>
          </a:p>
          <a:p>
            <a:pPr marL="12700" marR="5080">
              <a:lnSpc>
                <a:spcPct val="114900"/>
              </a:lnSpc>
            </a:pPr>
            <a:r>
              <a:rPr dirty="0" sz="3100" spc="-10" b="0">
                <a:latin typeface="Arial MT"/>
                <a:cs typeface="Arial MT"/>
              </a:rPr>
              <a:t>An</a:t>
            </a:r>
            <a:r>
              <a:rPr dirty="0" sz="3100" spc="-140" b="0">
                <a:latin typeface="Arial MT"/>
                <a:cs typeface="Arial MT"/>
              </a:rPr>
              <a:t> </a:t>
            </a:r>
            <a:r>
              <a:rPr dirty="0" sz="3100" spc="-80" b="0">
                <a:latin typeface="Arial MT"/>
                <a:cs typeface="Arial MT"/>
              </a:rPr>
              <a:t>advisory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50" b="0">
                <a:latin typeface="Arial MT"/>
                <a:cs typeface="Arial MT"/>
              </a:rPr>
              <a:t>tool</a:t>
            </a:r>
            <a:r>
              <a:rPr dirty="0" sz="3100" spc="-140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that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identifies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40" b="0">
                <a:latin typeface="Arial MT"/>
                <a:cs typeface="Arial MT"/>
              </a:rPr>
              <a:t>the</a:t>
            </a:r>
            <a:r>
              <a:rPr dirty="0" sz="3100" spc="-140" b="0">
                <a:latin typeface="Arial MT"/>
                <a:cs typeface="Arial MT"/>
              </a:rPr>
              <a:t> </a:t>
            </a:r>
            <a:r>
              <a:rPr dirty="0" sz="3100" spc="-50" b="0">
                <a:latin typeface="Arial MT"/>
                <a:cs typeface="Arial MT"/>
              </a:rPr>
              <a:t>specific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60" b="0">
                <a:latin typeface="Arial MT"/>
                <a:cs typeface="Arial MT"/>
              </a:rPr>
              <a:t>barriers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130" b="0">
                <a:latin typeface="Arial MT"/>
                <a:cs typeface="Arial MT"/>
              </a:rPr>
              <a:t>a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20" b="0">
                <a:latin typeface="Arial MT"/>
                <a:cs typeface="Arial MT"/>
              </a:rPr>
              <a:t>user </a:t>
            </a:r>
            <a:r>
              <a:rPr dirty="0" sz="3100" spc="-95" b="0">
                <a:latin typeface="Arial MT"/>
                <a:cs typeface="Arial MT"/>
              </a:rPr>
              <a:t>faces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b="0">
                <a:latin typeface="Arial MT"/>
                <a:cs typeface="Arial MT"/>
              </a:rPr>
              <a:t>—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cost,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spc="-90" b="0">
                <a:latin typeface="Arial MT"/>
                <a:cs typeface="Arial MT"/>
              </a:rPr>
              <a:t>policy,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125" b="0">
                <a:latin typeface="Arial MT"/>
                <a:cs typeface="Arial MT"/>
              </a:rPr>
              <a:t>awareness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b="0">
                <a:latin typeface="Arial MT"/>
                <a:cs typeface="Arial MT"/>
              </a:rPr>
              <a:t>—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85" b="0">
                <a:latin typeface="Arial MT"/>
                <a:cs typeface="Arial MT"/>
              </a:rPr>
              <a:t>and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spc="-65" b="0">
                <a:latin typeface="Arial MT"/>
                <a:cs typeface="Arial MT"/>
              </a:rPr>
              <a:t>recommends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10" b="0">
                <a:latin typeface="Arial MT"/>
                <a:cs typeface="Arial MT"/>
              </a:rPr>
              <a:t>tailored </a:t>
            </a:r>
            <a:r>
              <a:rPr dirty="0" sz="3100" spc="-90" b="0">
                <a:latin typeface="Arial MT"/>
                <a:cs typeface="Arial MT"/>
              </a:rPr>
              <a:t>subsidies,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financing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85" b="0">
                <a:latin typeface="Arial MT"/>
                <a:cs typeface="Arial MT"/>
              </a:rPr>
              <a:t>and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40" b="0">
                <a:latin typeface="Arial MT"/>
                <a:cs typeface="Arial MT"/>
              </a:rPr>
              <a:t>next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10" b="0">
                <a:latin typeface="Arial MT"/>
                <a:cs typeface="Arial MT"/>
              </a:rPr>
              <a:t>steps.</a:t>
            </a:r>
            <a:endParaRPr sz="3100">
              <a:latin typeface="Arial MT"/>
              <a:cs typeface="Arial MT"/>
            </a:endParaRPr>
          </a:p>
          <a:p>
            <a:pPr marL="202565" marR="636270">
              <a:lnSpc>
                <a:spcPct val="115199"/>
              </a:lnSpc>
              <a:spcBef>
                <a:spcPts val="2040"/>
              </a:spcBef>
            </a:pPr>
            <a:r>
              <a:rPr dirty="0" sz="3200" spc="-100" b="0">
                <a:latin typeface="Arial MT"/>
                <a:cs typeface="Arial MT"/>
              </a:rPr>
              <a:t>Diagnoses</a:t>
            </a:r>
            <a:r>
              <a:rPr dirty="0" sz="3200" spc="-140" b="0">
                <a:latin typeface="Arial MT"/>
                <a:cs typeface="Arial MT"/>
              </a:rPr>
              <a:t> </a:t>
            </a:r>
            <a:r>
              <a:rPr dirty="0" sz="3200" spc="-65" b="0">
                <a:latin typeface="Arial MT"/>
                <a:cs typeface="Arial MT"/>
              </a:rPr>
              <a:t>each</a:t>
            </a:r>
            <a:r>
              <a:rPr dirty="0" sz="3200" spc="-135" b="0">
                <a:latin typeface="Arial MT"/>
                <a:cs typeface="Arial MT"/>
              </a:rPr>
              <a:t> </a:t>
            </a:r>
            <a:r>
              <a:rPr dirty="0" sz="3200" spc="-85" b="0">
                <a:latin typeface="Arial MT"/>
                <a:cs typeface="Arial MT"/>
              </a:rPr>
              <a:t>user's</a:t>
            </a:r>
            <a:r>
              <a:rPr dirty="0" sz="3200" spc="-135" b="0">
                <a:latin typeface="Arial MT"/>
                <a:cs typeface="Arial MT"/>
              </a:rPr>
              <a:t> </a:t>
            </a:r>
            <a:r>
              <a:rPr dirty="0" sz="3200" spc="-60" b="0">
                <a:latin typeface="Arial MT"/>
                <a:cs typeface="Arial MT"/>
              </a:rPr>
              <a:t>adoption</a:t>
            </a:r>
            <a:r>
              <a:rPr dirty="0" sz="3200" spc="-140" b="0">
                <a:latin typeface="Arial MT"/>
                <a:cs typeface="Arial MT"/>
              </a:rPr>
              <a:t> </a:t>
            </a:r>
            <a:r>
              <a:rPr dirty="0" sz="3200" spc="-10" b="0">
                <a:latin typeface="Arial MT"/>
                <a:cs typeface="Arial MT"/>
              </a:rPr>
              <a:t>barriers </a:t>
            </a:r>
            <a:r>
              <a:rPr dirty="0" sz="3200" spc="-95" b="0">
                <a:latin typeface="Arial MT"/>
                <a:cs typeface="Arial MT"/>
              </a:rPr>
              <a:t>Recommends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90" b="0">
                <a:latin typeface="Arial MT"/>
                <a:cs typeface="Arial MT"/>
              </a:rPr>
              <a:t>relevant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95" b="0">
                <a:latin typeface="Arial MT"/>
                <a:cs typeface="Arial MT"/>
              </a:rPr>
              <a:t>subsidies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60" b="0">
                <a:latin typeface="Arial MT"/>
                <a:cs typeface="Arial MT"/>
              </a:rPr>
              <a:t>and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60" b="0">
                <a:latin typeface="Arial MT"/>
                <a:cs typeface="Arial MT"/>
              </a:rPr>
              <a:t>financing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25" b="0">
                <a:latin typeface="Arial MT"/>
                <a:cs typeface="Arial MT"/>
              </a:rPr>
              <a:t>options </a:t>
            </a:r>
            <a:r>
              <a:rPr dirty="0" sz="3200" spc="-95" b="0">
                <a:latin typeface="Arial MT"/>
                <a:cs typeface="Arial MT"/>
              </a:rPr>
              <a:t>Delivers</a:t>
            </a:r>
            <a:r>
              <a:rPr dirty="0" sz="3200" spc="-100" b="0">
                <a:latin typeface="Arial MT"/>
                <a:cs typeface="Arial MT"/>
              </a:rPr>
              <a:t> </a:t>
            </a:r>
            <a:r>
              <a:rPr dirty="0" sz="3200" spc="-110" b="0">
                <a:latin typeface="Arial MT"/>
                <a:cs typeface="Arial MT"/>
              </a:rPr>
              <a:t>a</a:t>
            </a:r>
            <a:r>
              <a:rPr dirty="0" sz="3200" spc="-95" b="0">
                <a:latin typeface="Arial MT"/>
                <a:cs typeface="Arial MT"/>
              </a:rPr>
              <a:t> personalised,</a:t>
            </a:r>
            <a:r>
              <a:rPr dirty="0" sz="3200" spc="-100" b="0">
                <a:latin typeface="Arial MT"/>
                <a:cs typeface="Arial MT"/>
              </a:rPr>
              <a:t> </a:t>
            </a:r>
            <a:r>
              <a:rPr dirty="0" sz="3200" spc="-70" b="0">
                <a:latin typeface="Arial MT"/>
                <a:cs typeface="Arial MT"/>
              </a:rPr>
              <a:t>actionable</a:t>
            </a:r>
            <a:r>
              <a:rPr dirty="0" sz="3200" spc="-95" b="0">
                <a:latin typeface="Arial MT"/>
                <a:cs typeface="Arial MT"/>
              </a:rPr>
              <a:t> </a:t>
            </a:r>
            <a:r>
              <a:rPr dirty="0" sz="3200" spc="-10" b="0">
                <a:latin typeface="Arial MT"/>
                <a:cs typeface="Arial MT"/>
              </a:rPr>
              <a:t>roadmap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729" y="3161788"/>
            <a:ext cx="6915126" cy="58885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0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2250"/>
              </a:spcBef>
            </a:pPr>
            <a:r>
              <a:rPr dirty="0" spc="-509"/>
              <a:t>AI-</a:t>
            </a:r>
            <a:r>
              <a:rPr dirty="0" spc="-670"/>
              <a:t>P</a:t>
            </a:r>
            <a:r>
              <a:rPr dirty="0" spc="-585"/>
              <a:t>ow</a:t>
            </a:r>
            <a:r>
              <a:rPr dirty="0" spc="-470"/>
              <a:t>e</a:t>
            </a:r>
            <a:r>
              <a:rPr dirty="0" spc="-525"/>
              <a:t>r</a:t>
            </a:r>
            <a:r>
              <a:rPr dirty="0" spc="-470"/>
              <a:t>e</a:t>
            </a:r>
            <a:r>
              <a:rPr dirty="0" spc="-30"/>
              <a:t>d</a:t>
            </a:r>
            <a:r>
              <a:rPr dirty="0" spc="-850"/>
              <a:t> </a:t>
            </a:r>
            <a:r>
              <a:rPr dirty="0" spc="-375"/>
              <a:t>Community </a:t>
            </a:r>
            <a:r>
              <a:rPr dirty="0" spc="-380"/>
              <a:t>Solar</a:t>
            </a:r>
            <a:r>
              <a:rPr dirty="0" spc="-869"/>
              <a:t> </a:t>
            </a:r>
            <a:r>
              <a:rPr dirty="0" spc="110"/>
              <a:t>&amp;</a:t>
            </a:r>
            <a:r>
              <a:rPr dirty="0" spc="-865"/>
              <a:t> </a:t>
            </a:r>
            <a:r>
              <a:rPr dirty="0" spc="-555"/>
              <a:t>P2P</a:t>
            </a:r>
            <a:r>
              <a:rPr dirty="0" spc="-869"/>
              <a:t> </a:t>
            </a:r>
            <a:r>
              <a:rPr dirty="0" spc="-630"/>
              <a:t>E</a:t>
            </a:r>
            <a:r>
              <a:rPr dirty="0" spc="-505"/>
              <a:t>n</a:t>
            </a:r>
            <a:r>
              <a:rPr dirty="0" spc="-515"/>
              <a:t>e</a:t>
            </a:r>
            <a:r>
              <a:rPr dirty="0" spc="-550"/>
              <a:t>r</a:t>
            </a:r>
            <a:r>
              <a:rPr dirty="0" spc="-565"/>
              <a:t>g</a:t>
            </a:r>
            <a:r>
              <a:rPr dirty="0" spc="-75"/>
              <a:t>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958" y="7629066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958" y="8191041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958" y="8753016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5786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Guidance</a:t>
            </a:r>
            <a:r>
              <a:rPr dirty="0" spc="-195"/>
              <a:t> </a:t>
            </a:r>
            <a:r>
              <a:rPr dirty="0" spc="-105"/>
              <a:t>past</a:t>
            </a:r>
            <a:r>
              <a:rPr dirty="0" spc="-190"/>
              <a:t> </a:t>
            </a:r>
            <a:r>
              <a:rPr dirty="0" spc="-45"/>
              <a:t>the</a:t>
            </a:r>
            <a:r>
              <a:rPr dirty="0" spc="-190"/>
              <a:t> </a:t>
            </a:r>
            <a:r>
              <a:rPr dirty="0" spc="-10"/>
              <a:t>roadblocks</a:t>
            </a:r>
          </a:p>
          <a:p>
            <a:pPr>
              <a:lnSpc>
                <a:spcPct val="100000"/>
              </a:lnSpc>
              <a:spcBef>
                <a:spcPts val="869"/>
              </a:spcBef>
            </a:pPr>
          </a:p>
          <a:p>
            <a:pPr marL="12700" marR="5080">
              <a:lnSpc>
                <a:spcPct val="114900"/>
              </a:lnSpc>
            </a:pPr>
            <a:r>
              <a:rPr dirty="0" sz="3100" spc="-10" b="0">
                <a:latin typeface="Arial MT"/>
                <a:cs typeface="Arial MT"/>
              </a:rPr>
              <a:t>An</a:t>
            </a:r>
            <a:r>
              <a:rPr dirty="0" sz="3100" spc="-140" b="0">
                <a:latin typeface="Arial MT"/>
                <a:cs typeface="Arial MT"/>
              </a:rPr>
              <a:t> </a:t>
            </a:r>
            <a:r>
              <a:rPr dirty="0" sz="3100" spc="-80" b="0">
                <a:latin typeface="Arial MT"/>
                <a:cs typeface="Arial MT"/>
              </a:rPr>
              <a:t>advisory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50" b="0">
                <a:latin typeface="Arial MT"/>
                <a:cs typeface="Arial MT"/>
              </a:rPr>
              <a:t>tool</a:t>
            </a:r>
            <a:r>
              <a:rPr dirty="0" sz="3100" spc="-140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that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identifies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40" b="0">
                <a:latin typeface="Arial MT"/>
                <a:cs typeface="Arial MT"/>
              </a:rPr>
              <a:t>the</a:t>
            </a:r>
            <a:r>
              <a:rPr dirty="0" sz="3100" spc="-140" b="0">
                <a:latin typeface="Arial MT"/>
                <a:cs typeface="Arial MT"/>
              </a:rPr>
              <a:t> </a:t>
            </a:r>
            <a:r>
              <a:rPr dirty="0" sz="3100" spc="-50" b="0">
                <a:latin typeface="Arial MT"/>
                <a:cs typeface="Arial MT"/>
              </a:rPr>
              <a:t>specific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60" b="0">
                <a:latin typeface="Arial MT"/>
                <a:cs typeface="Arial MT"/>
              </a:rPr>
              <a:t>barriers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130" b="0">
                <a:latin typeface="Arial MT"/>
                <a:cs typeface="Arial MT"/>
              </a:rPr>
              <a:t>a</a:t>
            </a:r>
            <a:r>
              <a:rPr dirty="0" sz="3100" spc="-135" b="0">
                <a:latin typeface="Arial MT"/>
                <a:cs typeface="Arial MT"/>
              </a:rPr>
              <a:t> </a:t>
            </a:r>
            <a:r>
              <a:rPr dirty="0" sz="3100" spc="-20" b="0">
                <a:latin typeface="Arial MT"/>
                <a:cs typeface="Arial MT"/>
              </a:rPr>
              <a:t>user </a:t>
            </a:r>
            <a:r>
              <a:rPr dirty="0" sz="3100" spc="-95" b="0">
                <a:latin typeface="Arial MT"/>
                <a:cs typeface="Arial MT"/>
              </a:rPr>
              <a:t>faces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b="0">
                <a:latin typeface="Arial MT"/>
                <a:cs typeface="Arial MT"/>
              </a:rPr>
              <a:t>—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cost,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spc="-90" b="0">
                <a:latin typeface="Arial MT"/>
                <a:cs typeface="Arial MT"/>
              </a:rPr>
              <a:t>policy,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125" b="0">
                <a:latin typeface="Arial MT"/>
                <a:cs typeface="Arial MT"/>
              </a:rPr>
              <a:t>awareness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b="0">
                <a:latin typeface="Arial MT"/>
                <a:cs typeface="Arial MT"/>
              </a:rPr>
              <a:t>—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85" b="0">
                <a:latin typeface="Arial MT"/>
                <a:cs typeface="Arial MT"/>
              </a:rPr>
              <a:t>and</a:t>
            </a:r>
            <a:r>
              <a:rPr dirty="0" sz="3100" spc="-114" b="0">
                <a:latin typeface="Arial MT"/>
                <a:cs typeface="Arial MT"/>
              </a:rPr>
              <a:t> </a:t>
            </a:r>
            <a:r>
              <a:rPr dirty="0" sz="3100" spc="-65" b="0">
                <a:latin typeface="Arial MT"/>
                <a:cs typeface="Arial MT"/>
              </a:rPr>
              <a:t>recommends</a:t>
            </a:r>
            <a:r>
              <a:rPr dirty="0" sz="3100" spc="-110" b="0">
                <a:latin typeface="Arial MT"/>
                <a:cs typeface="Arial MT"/>
              </a:rPr>
              <a:t> </a:t>
            </a:r>
            <a:r>
              <a:rPr dirty="0" sz="3100" spc="-10" b="0">
                <a:latin typeface="Arial MT"/>
                <a:cs typeface="Arial MT"/>
              </a:rPr>
              <a:t>tailored </a:t>
            </a:r>
            <a:r>
              <a:rPr dirty="0" sz="3100" spc="-90" b="0">
                <a:latin typeface="Arial MT"/>
                <a:cs typeface="Arial MT"/>
              </a:rPr>
              <a:t>subsidies,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70" b="0">
                <a:latin typeface="Arial MT"/>
                <a:cs typeface="Arial MT"/>
              </a:rPr>
              <a:t>financing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85" b="0">
                <a:latin typeface="Arial MT"/>
                <a:cs typeface="Arial MT"/>
              </a:rPr>
              <a:t>and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40" b="0">
                <a:latin typeface="Arial MT"/>
                <a:cs typeface="Arial MT"/>
              </a:rPr>
              <a:t>next</a:t>
            </a:r>
            <a:r>
              <a:rPr dirty="0" sz="3100" spc="-130" b="0">
                <a:latin typeface="Arial MT"/>
                <a:cs typeface="Arial MT"/>
              </a:rPr>
              <a:t> </a:t>
            </a:r>
            <a:r>
              <a:rPr dirty="0" sz="3100" spc="-10" b="0">
                <a:latin typeface="Arial MT"/>
                <a:cs typeface="Arial MT"/>
              </a:rPr>
              <a:t>steps.</a:t>
            </a:r>
            <a:endParaRPr sz="3100">
              <a:latin typeface="Arial MT"/>
              <a:cs typeface="Arial MT"/>
            </a:endParaRPr>
          </a:p>
          <a:p>
            <a:pPr marL="202565" marR="636270">
              <a:lnSpc>
                <a:spcPct val="115199"/>
              </a:lnSpc>
              <a:spcBef>
                <a:spcPts val="2040"/>
              </a:spcBef>
            </a:pPr>
            <a:r>
              <a:rPr dirty="0" sz="3200" spc="-100" b="0">
                <a:latin typeface="Arial MT"/>
                <a:cs typeface="Arial MT"/>
              </a:rPr>
              <a:t>Diagnoses</a:t>
            </a:r>
            <a:r>
              <a:rPr dirty="0" sz="3200" spc="-140" b="0">
                <a:latin typeface="Arial MT"/>
                <a:cs typeface="Arial MT"/>
              </a:rPr>
              <a:t> </a:t>
            </a:r>
            <a:r>
              <a:rPr dirty="0" sz="3200" spc="-65" b="0">
                <a:latin typeface="Arial MT"/>
                <a:cs typeface="Arial MT"/>
              </a:rPr>
              <a:t>each</a:t>
            </a:r>
            <a:r>
              <a:rPr dirty="0" sz="3200" spc="-135" b="0">
                <a:latin typeface="Arial MT"/>
                <a:cs typeface="Arial MT"/>
              </a:rPr>
              <a:t> </a:t>
            </a:r>
            <a:r>
              <a:rPr dirty="0" sz="3200" spc="-85" b="0">
                <a:latin typeface="Arial MT"/>
                <a:cs typeface="Arial MT"/>
              </a:rPr>
              <a:t>user's</a:t>
            </a:r>
            <a:r>
              <a:rPr dirty="0" sz="3200" spc="-135" b="0">
                <a:latin typeface="Arial MT"/>
                <a:cs typeface="Arial MT"/>
              </a:rPr>
              <a:t> </a:t>
            </a:r>
            <a:r>
              <a:rPr dirty="0" sz="3200" spc="-60" b="0">
                <a:latin typeface="Arial MT"/>
                <a:cs typeface="Arial MT"/>
              </a:rPr>
              <a:t>adoption</a:t>
            </a:r>
            <a:r>
              <a:rPr dirty="0" sz="3200" spc="-140" b="0">
                <a:latin typeface="Arial MT"/>
                <a:cs typeface="Arial MT"/>
              </a:rPr>
              <a:t> </a:t>
            </a:r>
            <a:r>
              <a:rPr dirty="0" sz="3200" spc="-10" b="0">
                <a:latin typeface="Arial MT"/>
                <a:cs typeface="Arial MT"/>
              </a:rPr>
              <a:t>barriers </a:t>
            </a:r>
            <a:r>
              <a:rPr dirty="0" sz="3200" spc="-95" b="0">
                <a:latin typeface="Arial MT"/>
                <a:cs typeface="Arial MT"/>
              </a:rPr>
              <a:t>Recommends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90" b="0">
                <a:latin typeface="Arial MT"/>
                <a:cs typeface="Arial MT"/>
              </a:rPr>
              <a:t>relevant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95" b="0">
                <a:latin typeface="Arial MT"/>
                <a:cs typeface="Arial MT"/>
              </a:rPr>
              <a:t>subsidies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60" b="0">
                <a:latin typeface="Arial MT"/>
                <a:cs typeface="Arial MT"/>
              </a:rPr>
              <a:t>and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60" b="0">
                <a:latin typeface="Arial MT"/>
                <a:cs typeface="Arial MT"/>
              </a:rPr>
              <a:t>financing</a:t>
            </a:r>
            <a:r>
              <a:rPr dirty="0" sz="3200" spc="-120" b="0">
                <a:latin typeface="Arial MT"/>
                <a:cs typeface="Arial MT"/>
              </a:rPr>
              <a:t> </a:t>
            </a:r>
            <a:r>
              <a:rPr dirty="0" sz="3200" spc="-25" b="0">
                <a:latin typeface="Arial MT"/>
                <a:cs typeface="Arial MT"/>
              </a:rPr>
              <a:t>options </a:t>
            </a:r>
            <a:r>
              <a:rPr dirty="0" sz="3200" spc="-95" b="0">
                <a:latin typeface="Arial MT"/>
                <a:cs typeface="Arial MT"/>
              </a:rPr>
              <a:t>Delivers</a:t>
            </a:r>
            <a:r>
              <a:rPr dirty="0" sz="3200" spc="-100" b="0">
                <a:latin typeface="Arial MT"/>
                <a:cs typeface="Arial MT"/>
              </a:rPr>
              <a:t> </a:t>
            </a:r>
            <a:r>
              <a:rPr dirty="0" sz="3200" spc="-110" b="0">
                <a:latin typeface="Arial MT"/>
                <a:cs typeface="Arial MT"/>
              </a:rPr>
              <a:t>a</a:t>
            </a:r>
            <a:r>
              <a:rPr dirty="0" sz="3200" spc="-95" b="0">
                <a:latin typeface="Arial MT"/>
                <a:cs typeface="Arial MT"/>
              </a:rPr>
              <a:t> personalised,</a:t>
            </a:r>
            <a:r>
              <a:rPr dirty="0" sz="3200" spc="-100" b="0">
                <a:latin typeface="Arial MT"/>
                <a:cs typeface="Arial MT"/>
              </a:rPr>
              <a:t> </a:t>
            </a:r>
            <a:r>
              <a:rPr dirty="0" sz="3200" spc="-70" b="0">
                <a:latin typeface="Arial MT"/>
                <a:cs typeface="Arial MT"/>
              </a:rPr>
              <a:t>actionable</a:t>
            </a:r>
            <a:r>
              <a:rPr dirty="0" sz="3200" spc="-95" b="0">
                <a:latin typeface="Arial MT"/>
                <a:cs typeface="Arial MT"/>
              </a:rPr>
              <a:t> </a:t>
            </a:r>
            <a:r>
              <a:rPr dirty="0" sz="3200" spc="-10" b="0">
                <a:latin typeface="Arial MT"/>
                <a:cs typeface="Arial MT"/>
              </a:rPr>
              <a:t>roadmap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729" y="3161788"/>
            <a:ext cx="6915126" cy="58885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5773" y="652169"/>
            <a:ext cx="6352540" cy="2211705"/>
          </a:xfrm>
          <a:prstGeom prst="rect"/>
        </p:spPr>
        <p:txBody>
          <a:bodyPr wrap="square" lIns="0" tIns="273685" rIns="0" bIns="0" rtlCol="0" vert="horz">
            <a:spAutoFit/>
          </a:bodyPr>
          <a:lstStyle/>
          <a:p>
            <a:pPr marL="12700" marR="5080">
              <a:lnSpc>
                <a:spcPct val="78900"/>
              </a:lnSpc>
              <a:spcBef>
                <a:spcPts val="2155"/>
              </a:spcBef>
            </a:pPr>
            <a:r>
              <a:rPr dirty="0" sz="8000" spc="-680"/>
              <a:t>W</a:t>
            </a:r>
            <a:r>
              <a:rPr dirty="0" sz="8000" spc="-500"/>
              <a:t>h</a:t>
            </a:r>
            <a:r>
              <a:rPr dirty="0" sz="8000" spc="-95"/>
              <a:t>y</a:t>
            </a:r>
            <a:r>
              <a:rPr dirty="0" sz="8000" spc="-815"/>
              <a:t> </a:t>
            </a:r>
            <a:r>
              <a:rPr dirty="0" sz="8000" spc="-875"/>
              <a:t>W</a:t>
            </a:r>
            <a:r>
              <a:rPr dirty="0" sz="8000" spc="-185"/>
              <a:t>e</a:t>
            </a:r>
            <a:r>
              <a:rPr dirty="0" sz="8000" spc="-810"/>
              <a:t> </a:t>
            </a:r>
            <a:r>
              <a:rPr dirty="0" sz="8000" spc="-430"/>
              <a:t>Chose SolarShare</a:t>
            </a:r>
            <a:endParaRPr sz="8000"/>
          </a:p>
        </p:txBody>
      </p:sp>
      <p:sp>
        <p:nvSpPr>
          <p:cNvPr id="3" name="object 3"/>
          <p:cNvSpPr/>
          <p:nvPr/>
        </p:nvSpPr>
        <p:spPr>
          <a:xfrm>
            <a:off x="15471979" y="1028712"/>
            <a:ext cx="1787525" cy="894080"/>
          </a:xfrm>
          <a:custGeom>
            <a:avLst/>
            <a:gdLst/>
            <a:ahLst/>
            <a:cxnLst/>
            <a:rect l="l" t="t" r="r" b="b"/>
            <a:pathLst>
              <a:path w="1787525" h="894080">
                <a:moveTo>
                  <a:pt x="893559" y="0"/>
                </a:moveTo>
                <a:lnTo>
                  <a:pt x="485597" y="711"/>
                </a:lnTo>
                <a:lnTo>
                  <a:pt x="483311" y="47421"/>
                </a:lnTo>
                <a:lnTo>
                  <a:pt x="476732" y="92862"/>
                </a:lnTo>
                <a:lnTo>
                  <a:pt x="466051" y="136855"/>
                </a:lnTo>
                <a:lnTo>
                  <a:pt x="451485" y="179171"/>
                </a:lnTo>
                <a:lnTo>
                  <a:pt x="433222" y="219633"/>
                </a:lnTo>
                <a:lnTo>
                  <a:pt x="411467" y="258013"/>
                </a:lnTo>
                <a:lnTo>
                  <a:pt x="386435" y="294132"/>
                </a:lnTo>
                <a:lnTo>
                  <a:pt x="358317" y="327761"/>
                </a:lnTo>
                <a:lnTo>
                  <a:pt x="327317" y="358724"/>
                </a:lnTo>
                <a:lnTo>
                  <a:pt x="293636" y="386803"/>
                </a:lnTo>
                <a:lnTo>
                  <a:pt x="257492" y="411797"/>
                </a:lnTo>
                <a:lnTo>
                  <a:pt x="219075" y="433489"/>
                </a:lnTo>
                <a:lnTo>
                  <a:pt x="178587" y="451713"/>
                </a:lnTo>
                <a:lnTo>
                  <a:pt x="136232" y="466229"/>
                </a:lnTo>
                <a:lnTo>
                  <a:pt x="92214" y="476846"/>
                </a:lnTo>
                <a:lnTo>
                  <a:pt x="46736" y="483374"/>
                </a:lnTo>
                <a:lnTo>
                  <a:pt x="0" y="485597"/>
                </a:lnTo>
                <a:lnTo>
                  <a:pt x="0" y="893559"/>
                </a:lnTo>
                <a:lnTo>
                  <a:pt x="47447" y="892314"/>
                </a:lnTo>
                <a:lnTo>
                  <a:pt x="94259" y="888644"/>
                </a:lnTo>
                <a:lnTo>
                  <a:pt x="140373" y="882599"/>
                </a:lnTo>
                <a:lnTo>
                  <a:pt x="185712" y="874229"/>
                </a:lnTo>
                <a:lnTo>
                  <a:pt x="230212" y="863625"/>
                </a:lnTo>
                <a:lnTo>
                  <a:pt x="273824" y="850823"/>
                </a:lnTo>
                <a:lnTo>
                  <a:pt x="316484" y="835888"/>
                </a:lnTo>
                <a:lnTo>
                  <a:pt x="358127" y="818896"/>
                </a:lnTo>
                <a:lnTo>
                  <a:pt x="398703" y="799909"/>
                </a:lnTo>
                <a:lnTo>
                  <a:pt x="438124" y="778967"/>
                </a:lnTo>
                <a:lnTo>
                  <a:pt x="476351" y="756145"/>
                </a:lnTo>
                <a:lnTo>
                  <a:pt x="513308" y="731507"/>
                </a:lnTo>
                <a:lnTo>
                  <a:pt x="548957" y="705116"/>
                </a:lnTo>
                <a:lnTo>
                  <a:pt x="583209" y="677024"/>
                </a:lnTo>
                <a:lnTo>
                  <a:pt x="616013" y="647306"/>
                </a:lnTo>
                <a:lnTo>
                  <a:pt x="647306" y="616000"/>
                </a:lnTo>
                <a:lnTo>
                  <a:pt x="677024" y="583196"/>
                </a:lnTo>
                <a:lnTo>
                  <a:pt x="705116" y="548944"/>
                </a:lnTo>
                <a:lnTo>
                  <a:pt x="731507" y="513308"/>
                </a:lnTo>
                <a:lnTo>
                  <a:pt x="756145" y="476351"/>
                </a:lnTo>
                <a:lnTo>
                  <a:pt x="778967" y="438124"/>
                </a:lnTo>
                <a:lnTo>
                  <a:pt x="799909" y="398691"/>
                </a:lnTo>
                <a:lnTo>
                  <a:pt x="818908" y="358127"/>
                </a:lnTo>
                <a:lnTo>
                  <a:pt x="835901" y="316484"/>
                </a:lnTo>
                <a:lnTo>
                  <a:pt x="850823" y="273824"/>
                </a:lnTo>
                <a:lnTo>
                  <a:pt x="863625" y="230212"/>
                </a:lnTo>
                <a:lnTo>
                  <a:pt x="874229" y="185712"/>
                </a:lnTo>
                <a:lnTo>
                  <a:pt x="882599" y="140373"/>
                </a:lnTo>
                <a:lnTo>
                  <a:pt x="888644" y="94259"/>
                </a:lnTo>
                <a:lnTo>
                  <a:pt x="892314" y="47447"/>
                </a:lnTo>
                <a:lnTo>
                  <a:pt x="893559" y="0"/>
                </a:lnTo>
                <a:close/>
              </a:path>
              <a:path w="1787525" h="894080">
                <a:moveTo>
                  <a:pt x="1787220" y="0"/>
                </a:moveTo>
                <a:lnTo>
                  <a:pt x="1379245" y="711"/>
                </a:lnTo>
                <a:lnTo>
                  <a:pt x="1376972" y="47421"/>
                </a:lnTo>
                <a:lnTo>
                  <a:pt x="1370393" y="92862"/>
                </a:lnTo>
                <a:lnTo>
                  <a:pt x="1359712" y="136855"/>
                </a:lnTo>
                <a:lnTo>
                  <a:pt x="1345145" y="179171"/>
                </a:lnTo>
                <a:lnTo>
                  <a:pt x="1326883" y="219633"/>
                </a:lnTo>
                <a:lnTo>
                  <a:pt x="1305128" y="258013"/>
                </a:lnTo>
                <a:lnTo>
                  <a:pt x="1280096" y="294132"/>
                </a:lnTo>
                <a:lnTo>
                  <a:pt x="1251978" y="327761"/>
                </a:lnTo>
                <a:lnTo>
                  <a:pt x="1220978" y="358724"/>
                </a:lnTo>
                <a:lnTo>
                  <a:pt x="1187297" y="386803"/>
                </a:lnTo>
                <a:lnTo>
                  <a:pt x="1151153" y="411797"/>
                </a:lnTo>
                <a:lnTo>
                  <a:pt x="1112735" y="433489"/>
                </a:lnTo>
                <a:lnTo>
                  <a:pt x="1072235" y="451713"/>
                </a:lnTo>
                <a:lnTo>
                  <a:pt x="1029881" y="466229"/>
                </a:lnTo>
                <a:lnTo>
                  <a:pt x="985862" y="476846"/>
                </a:lnTo>
                <a:lnTo>
                  <a:pt x="940384" y="483374"/>
                </a:lnTo>
                <a:lnTo>
                  <a:pt x="893648" y="485597"/>
                </a:lnTo>
                <a:lnTo>
                  <a:pt x="893648" y="893559"/>
                </a:lnTo>
                <a:lnTo>
                  <a:pt x="941108" y="892314"/>
                </a:lnTo>
                <a:lnTo>
                  <a:pt x="987920" y="888644"/>
                </a:lnTo>
                <a:lnTo>
                  <a:pt x="1034034" y="882599"/>
                </a:lnTo>
                <a:lnTo>
                  <a:pt x="1079373" y="874229"/>
                </a:lnTo>
                <a:lnTo>
                  <a:pt x="1123873" y="863625"/>
                </a:lnTo>
                <a:lnTo>
                  <a:pt x="1167485" y="850823"/>
                </a:lnTo>
                <a:lnTo>
                  <a:pt x="1210144" y="835888"/>
                </a:lnTo>
                <a:lnTo>
                  <a:pt x="1251788" y="818896"/>
                </a:lnTo>
                <a:lnTo>
                  <a:pt x="1292352" y="799909"/>
                </a:lnTo>
                <a:lnTo>
                  <a:pt x="1331785" y="778967"/>
                </a:lnTo>
                <a:lnTo>
                  <a:pt x="1370012" y="756145"/>
                </a:lnTo>
                <a:lnTo>
                  <a:pt x="1406969" y="731507"/>
                </a:lnTo>
                <a:lnTo>
                  <a:pt x="1442605" y="705116"/>
                </a:lnTo>
                <a:lnTo>
                  <a:pt x="1476857" y="677024"/>
                </a:lnTo>
                <a:lnTo>
                  <a:pt x="1509661" y="647306"/>
                </a:lnTo>
                <a:lnTo>
                  <a:pt x="1540967" y="616000"/>
                </a:lnTo>
                <a:lnTo>
                  <a:pt x="1570685" y="583196"/>
                </a:lnTo>
                <a:lnTo>
                  <a:pt x="1598777" y="548944"/>
                </a:lnTo>
                <a:lnTo>
                  <a:pt x="1625168" y="513308"/>
                </a:lnTo>
                <a:lnTo>
                  <a:pt x="1649806" y="476351"/>
                </a:lnTo>
                <a:lnTo>
                  <a:pt x="1672628" y="438124"/>
                </a:lnTo>
                <a:lnTo>
                  <a:pt x="1693570" y="398691"/>
                </a:lnTo>
                <a:lnTo>
                  <a:pt x="1712556" y="358127"/>
                </a:lnTo>
                <a:lnTo>
                  <a:pt x="1729549" y="316484"/>
                </a:lnTo>
                <a:lnTo>
                  <a:pt x="1744484" y="273824"/>
                </a:lnTo>
                <a:lnTo>
                  <a:pt x="1757286" y="230212"/>
                </a:lnTo>
                <a:lnTo>
                  <a:pt x="1767890" y="185712"/>
                </a:lnTo>
                <a:lnTo>
                  <a:pt x="1776260" y="140373"/>
                </a:lnTo>
                <a:lnTo>
                  <a:pt x="1782305" y="94259"/>
                </a:lnTo>
                <a:lnTo>
                  <a:pt x="1785975" y="47447"/>
                </a:lnTo>
                <a:lnTo>
                  <a:pt x="1787220" y="0"/>
                </a:lnTo>
                <a:close/>
              </a:path>
            </a:pathLst>
          </a:custGeom>
          <a:solidFill>
            <a:srgbClr val="0533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45773" y="3072416"/>
            <a:ext cx="15618460" cy="92138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 marR="5080">
              <a:lnSpc>
                <a:spcPct val="79700"/>
              </a:lnSpc>
              <a:spcBef>
                <a:spcPts val="925"/>
              </a:spcBef>
            </a:pPr>
            <a:r>
              <a:rPr dirty="0" sz="3250">
                <a:solidFill>
                  <a:srgbClr val="EBFFF7"/>
                </a:solidFill>
                <a:latin typeface="Arial MT"/>
                <a:cs typeface="Arial MT"/>
              </a:rPr>
              <a:t>Of</a:t>
            </a:r>
            <a:r>
              <a:rPr dirty="0" sz="3250" spc="-2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80">
                <a:solidFill>
                  <a:srgbClr val="EBFFF7"/>
                </a:solidFill>
                <a:latin typeface="Arial MT"/>
                <a:cs typeface="Arial MT"/>
              </a:rPr>
              <a:t>all</a:t>
            </a:r>
            <a:r>
              <a:rPr dirty="0" sz="325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70">
                <a:solidFill>
                  <a:srgbClr val="EBFFF7"/>
                </a:solidFill>
                <a:latin typeface="Arial MT"/>
                <a:cs typeface="Arial MT"/>
              </a:rPr>
              <a:t>six</a:t>
            </a:r>
            <a:r>
              <a:rPr dirty="0" sz="325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80">
                <a:solidFill>
                  <a:srgbClr val="EBFFF7"/>
                </a:solidFill>
                <a:latin typeface="Arial MT"/>
                <a:cs typeface="Arial MT"/>
              </a:rPr>
              <a:t>solutions,</a:t>
            </a:r>
            <a:r>
              <a:rPr dirty="0" sz="325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85">
                <a:solidFill>
                  <a:srgbClr val="EBFFF7"/>
                </a:solidFill>
                <a:latin typeface="Arial MT"/>
                <a:cs typeface="Arial MT"/>
              </a:rPr>
              <a:t>SolarShare</a:t>
            </a:r>
            <a:r>
              <a:rPr dirty="0" sz="325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80">
                <a:solidFill>
                  <a:srgbClr val="EBFFF7"/>
                </a:solidFill>
                <a:latin typeface="Arial MT"/>
                <a:cs typeface="Arial MT"/>
              </a:rPr>
              <a:t>removes</a:t>
            </a:r>
            <a:r>
              <a:rPr dirty="0" sz="325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EBFFF7"/>
                </a:solidFill>
                <a:latin typeface="Arial MT"/>
                <a:cs typeface="Arial MT"/>
              </a:rPr>
              <a:t>the</a:t>
            </a:r>
            <a:r>
              <a:rPr dirty="0" sz="3250" spc="-2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70">
                <a:solidFill>
                  <a:srgbClr val="EBFFF7"/>
                </a:solidFill>
                <a:latin typeface="Arial MT"/>
                <a:cs typeface="Arial MT"/>
              </a:rPr>
              <a:t>single</a:t>
            </a:r>
            <a:r>
              <a:rPr dirty="0" sz="325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40">
                <a:solidFill>
                  <a:srgbClr val="EBFFF7"/>
                </a:solidFill>
                <a:latin typeface="Arial MT"/>
                <a:cs typeface="Arial MT"/>
              </a:rPr>
              <a:t>biggest</a:t>
            </a:r>
            <a:r>
              <a:rPr dirty="0" sz="3250" spc="-18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EBFFF7"/>
                </a:solidFill>
                <a:latin typeface="Arial MT"/>
                <a:cs typeface="Arial MT"/>
              </a:rPr>
              <a:t>barrier</a:t>
            </a:r>
            <a:r>
              <a:rPr dirty="0" sz="3250" spc="-204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EBFFF7"/>
                </a:solidFill>
                <a:latin typeface="Arial MT"/>
                <a:cs typeface="Arial MT"/>
              </a:rPr>
              <a:t>to</a:t>
            </a:r>
            <a:r>
              <a:rPr dirty="0" sz="3250" spc="-2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EBFFF7"/>
                </a:solidFill>
                <a:latin typeface="Arial MT"/>
                <a:cs typeface="Arial MT"/>
              </a:rPr>
              <a:t>adoption</a:t>
            </a:r>
            <a:r>
              <a:rPr dirty="0" sz="3250" spc="56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EBFFF7"/>
                </a:solidFill>
                <a:latin typeface="Arial MT"/>
                <a:cs typeface="Arial MT"/>
              </a:rPr>
              <a:t>cost</a:t>
            </a:r>
            <a:r>
              <a:rPr dirty="0" sz="3250" spc="6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EBFFF7"/>
                </a:solidFill>
                <a:latin typeface="Arial MT"/>
                <a:cs typeface="Arial MT"/>
              </a:rPr>
              <a:t>while </a:t>
            </a:r>
            <a:r>
              <a:rPr dirty="0" sz="3250" spc="-50">
                <a:solidFill>
                  <a:srgbClr val="EBFFF7"/>
                </a:solidFill>
                <a:latin typeface="Arial MT"/>
                <a:cs typeface="Arial MT"/>
              </a:rPr>
              <a:t>reaching</a:t>
            </a:r>
            <a:r>
              <a:rPr dirty="0" sz="3250" spc="-1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EBFFF7"/>
                </a:solidFill>
                <a:latin typeface="Arial MT"/>
                <a:cs typeface="Arial MT"/>
              </a:rPr>
              <a:t>the</a:t>
            </a:r>
            <a:r>
              <a:rPr dirty="0" sz="3250" spc="-2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55">
                <a:solidFill>
                  <a:srgbClr val="EBFFF7"/>
                </a:solidFill>
                <a:latin typeface="Arial MT"/>
                <a:cs typeface="Arial MT"/>
              </a:rPr>
              <a:t>widest</a:t>
            </a:r>
            <a:r>
              <a:rPr dirty="0" sz="3250" spc="-17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EBFFF7"/>
                </a:solidFill>
                <a:latin typeface="Arial MT"/>
                <a:cs typeface="Arial MT"/>
              </a:rPr>
              <a:t>group</a:t>
            </a:r>
            <a:r>
              <a:rPr dirty="0" sz="3250" spc="-18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EBFFF7"/>
                </a:solidFill>
                <a:latin typeface="Arial MT"/>
                <a:cs typeface="Arial MT"/>
              </a:rPr>
              <a:t>of</a:t>
            </a:r>
            <a:r>
              <a:rPr dirty="0" sz="3250" spc="-18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EBFFF7"/>
                </a:solidFill>
                <a:latin typeface="Arial MT"/>
                <a:cs typeface="Arial MT"/>
              </a:rPr>
              <a:t>people.</a:t>
            </a:r>
            <a:endParaRPr sz="325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092" y="4384688"/>
            <a:ext cx="5428962" cy="43714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6000" y="4479482"/>
            <a:ext cx="4505325" cy="3454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32155">
              <a:lnSpc>
                <a:spcPct val="115399"/>
              </a:lnSpc>
              <a:spcBef>
                <a:spcPts val="95"/>
              </a:spcBef>
            </a:pPr>
            <a:r>
              <a:rPr dirty="0" sz="3250" spc="-155">
                <a:solidFill>
                  <a:srgbClr val="EBFFF7"/>
                </a:solidFill>
                <a:latin typeface="Arial MT"/>
                <a:cs typeface="Arial MT"/>
              </a:rPr>
              <a:t>Attacks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20">
                <a:solidFill>
                  <a:srgbClr val="EBFFF7"/>
                </a:solidFill>
                <a:latin typeface="Arial MT"/>
                <a:cs typeface="Arial MT"/>
              </a:rPr>
              <a:t>the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10">
                <a:solidFill>
                  <a:srgbClr val="EBFFF7"/>
                </a:solidFill>
                <a:latin typeface="Arial MT"/>
                <a:cs typeface="Arial MT"/>
              </a:rPr>
              <a:t>#1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EBFFF7"/>
                </a:solidFill>
                <a:latin typeface="Arial MT"/>
                <a:cs typeface="Arial MT"/>
              </a:rPr>
              <a:t>barrier </a:t>
            </a:r>
            <a:r>
              <a:rPr dirty="0" sz="3250" spc="-105">
                <a:solidFill>
                  <a:srgbClr val="EBFFF7"/>
                </a:solidFill>
                <a:latin typeface="Arial MT"/>
                <a:cs typeface="Arial MT"/>
              </a:rPr>
              <a:t>It</a:t>
            </a:r>
            <a:r>
              <a:rPr dirty="0" sz="3250" spc="-3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35">
                <a:solidFill>
                  <a:srgbClr val="EBFFF7"/>
                </a:solidFill>
                <a:latin typeface="Arial MT"/>
                <a:cs typeface="Arial MT"/>
              </a:rPr>
              <a:t>directly</a:t>
            </a:r>
            <a:r>
              <a:rPr dirty="0" sz="3250" spc="-3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65">
                <a:solidFill>
                  <a:srgbClr val="EBFFF7"/>
                </a:solidFill>
                <a:latin typeface="Arial MT"/>
                <a:cs typeface="Arial MT"/>
              </a:rPr>
              <a:t>targets</a:t>
            </a:r>
            <a:r>
              <a:rPr dirty="0" sz="3250" spc="-3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EBFFF7"/>
                </a:solidFill>
                <a:latin typeface="Arial MT"/>
                <a:cs typeface="Arial MT"/>
              </a:rPr>
              <a:t>high </a:t>
            </a:r>
            <a:r>
              <a:rPr dirty="0" sz="3250" spc="-140">
                <a:solidFill>
                  <a:srgbClr val="EBFFF7"/>
                </a:solidFill>
                <a:latin typeface="Arial MT"/>
                <a:cs typeface="Arial MT"/>
              </a:rPr>
              <a:t>upfront</a:t>
            </a:r>
            <a:r>
              <a:rPr dirty="0" sz="3250" spc="-3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EBFFF7"/>
                </a:solidFill>
                <a:latin typeface="Arial MT"/>
                <a:cs typeface="Arial MT"/>
              </a:rPr>
              <a:t>cost</a:t>
            </a:r>
            <a:r>
              <a:rPr dirty="0" sz="3250" spc="3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20">
                <a:solidFill>
                  <a:srgbClr val="EBFFF7"/>
                </a:solidFill>
                <a:latin typeface="Arial MT"/>
                <a:cs typeface="Arial MT"/>
              </a:rPr>
              <a:t>the</a:t>
            </a:r>
            <a:r>
              <a:rPr dirty="0" sz="3250" spc="-3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EBFFF7"/>
                </a:solidFill>
                <a:latin typeface="Arial MT"/>
                <a:cs typeface="Arial MT"/>
              </a:rPr>
              <a:t>main </a:t>
            </a:r>
            <a:r>
              <a:rPr dirty="0" sz="3250" spc="-190">
                <a:solidFill>
                  <a:srgbClr val="EBFFF7"/>
                </a:solidFill>
                <a:latin typeface="Arial MT"/>
                <a:cs typeface="Arial MT"/>
              </a:rPr>
              <a:t>reason</a:t>
            </a:r>
            <a:r>
              <a:rPr dirty="0" sz="3250" spc="-28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50">
                <a:solidFill>
                  <a:srgbClr val="EBFFF7"/>
                </a:solidFill>
                <a:latin typeface="Arial MT"/>
                <a:cs typeface="Arial MT"/>
              </a:rPr>
              <a:t>people</a:t>
            </a:r>
            <a:r>
              <a:rPr dirty="0" sz="3250" spc="-29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35">
                <a:solidFill>
                  <a:srgbClr val="EBFFF7"/>
                </a:solidFill>
                <a:latin typeface="Arial MT"/>
                <a:cs typeface="Arial MT"/>
              </a:rPr>
              <a:t>don't</a:t>
            </a:r>
            <a:r>
              <a:rPr dirty="0" sz="3250" spc="-28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EBFFF7"/>
                </a:solidFill>
                <a:latin typeface="Arial MT"/>
                <a:cs typeface="Arial MT"/>
              </a:rPr>
              <a:t>go</a:t>
            </a:r>
            <a:endParaRPr sz="3250">
              <a:latin typeface="Arial MT"/>
              <a:cs typeface="Arial MT"/>
            </a:endParaRPr>
          </a:p>
          <a:p>
            <a:pPr marL="12700" marR="5080">
              <a:lnSpc>
                <a:spcPct val="115399"/>
              </a:lnSpc>
            </a:pPr>
            <a:r>
              <a:rPr dirty="0" sz="3250" spc="-225">
                <a:solidFill>
                  <a:srgbClr val="EBFFF7"/>
                </a:solidFill>
                <a:latin typeface="Arial MT"/>
                <a:cs typeface="Arial MT"/>
              </a:rPr>
              <a:t>solar.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35">
                <a:solidFill>
                  <a:srgbClr val="EBFFF7"/>
                </a:solidFill>
                <a:latin typeface="Arial MT"/>
                <a:cs typeface="Arial MT"/>
              </a:rPr>
              <a:t>No</a:t>
            </a:r>
            <a:r>
              <a:rPr dirty="0" sz="3250" spc="-2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95">
                <a:solidFill>
                  <a:srgbClr val="EBFFF7"/>
                </a:solidFill>
                <a:latin typeface="Arial MT"/>
                <a:cs typeface="Arial MT"/>
              </a:rPr>
              <a:t>panels,</a:t>
            </a:r>
            <a:r>
              <a:rPr dirty="0" sz="3250" spc="-2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35">
                <a:solidFill>
                  <a:srgbClr val="EBFFF7"/>
                </a:solidFill>
                <a:latin typeface="Arial MT"/>
                <a:cs typeface="Arial MT"/>
              </a:rPr>
              <a:t>wiring</a:t>
            </a:r>
            <a:r>
              <a:rPr dirty="0" sz="3250" spc="-29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EBFFF7"/>
                </a:solidFill>
                <a:latin typeface="Arial MT"/>
                <a:cs typeface="Arial MT"/>
              </a:rPr>
              <a:t>or </a:t>
            </a:r>
            <a:r>
              <a:rPr dirty="0" sz="3250" spc="-140">
                <a:solidFill>
                  <a:srgbClr val="EBFFF7"/>
                </a:solidFill>
                <a:latin typeface="Arial MT"/>
                <a:cs typeface="Arial MT"/>
              </a:rPr>
              <a:t>rooftop</a:t>
            </a:r>
            <a:r>
              <a:rPr dirty="0" sz="3250" spc="-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75">
                <a:solidFill>
                  <a:srgbClr val="EBFFF7"/>
                </a:solidFill>
                <a:latin typeface="Arial MT"/>
                <a:cs typeface="Arial MT"/>
              </a:rPr>
              <a:t>investment</a:t>
            </a:r>
            <a:r>
              <a:rPr dirty="0" sz="3250" spc="-27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40">
                <a:solidFill>
                  <a:srgbClr val="EBFFF7"/>
                </a:solidFill>
                <a:latin typeface="Arial MT"/>
                <a:cs typeface="Arial MT"/>
              </a:rPr>
              <a:t>needed.</a:t>
            </a:r>
            <a:endParaRPr sz="32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518" y="4251665"/>
            <a:ext cx="5428963" cy="43714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93714" y="4545951"/>
            <a:ext cx="5046980" cy="2311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250" spc="-160">
                <a:solidFill>
                  <a:srgbClr val="EBFFF7"/>
                </a:solidFill>
                <a:latin typeface="Arial MT"/>
                <a:cs typeface="Arial MT"/>
              </a:rPr>
              <a:t>Strongest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04">
                <a:solidFill>
                  <a:srgbClr val="EBFFF7"/>
                </a:solidFill>
                <a:latin typeface="Arial MT"/>
                <a:cs typeface="Arial MT"/>
              </a:rPr>
              <a:t>SDG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EBFFF7"/>
                </a:solidFill>
                <a:latin typeface="Arial MT"/>
                <a:cs typeface="Arial MT"/>
              </a:rPr>
              <a:t>7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EBFFF7"/>
                </a:solidFill>
                <a:latin typeface="Arial MT"/>
                <a:cs typeface="Arial MT"/>
              </a:rPr>
              <a:t>fit</a:t>
            </a:r>
            <a:endParaRPr sz="3250">
              <a:latin typeface="Arial MT"/>
              <a:cs typeface="Arial MT"/>
            </a:endParaRPr>
          </a:p>
          <a:p>
            <a:pPr marL="12700" marR="5080">
              <a:lnSpc>
                <a:spcPct val="115399"/>
              </a:lnSpc>
            </a:pPr>
            <a:r>
              <a:rPr dirty="0" sz="3250" spc="-160">
                <a:solidFill>
                  <a:srgbClr val="EBFFF7"/>
                </a:solidFill>
                <a:latin typeface="Arial MT"/>
                <a:cs typeface="Arial MT"/>
              </a:rPr>
              <a:t>Its</a:t>
            </a:r>
            <a:r>
              <a:rPr dirty="0" sz="3250" spc="-30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60">
                <a:solidFill>
                  <a:srgbClr val="EBFFF7"/>
                </a:solidFill>
                <a:latin typeface="Arial MT"/>
                <a:cs typeface="Arial MT"/>
              </a:rPr>
              <a:t>whole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50">
                <a:solidFill>
                  <a:srgbClr val="EBFFF7"/>
                </a:solidFill>
                <a:latin typeface="Arial MT"/>
                <a:cs typeface="Arial MT"/>
              </a:rPr>
              <a:t>purpose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30">
                <a:solidFill>
                  <a:srgbClr val="EBFFF7"/>
                </a:solidFill>
                <a:latin typeface="Arial MT"/>
                <a:cs typeface="Arial MT"/>
              </a:rPr>
              <a:t>is</a:t>
            </a:r>
            <a:r>
              <a:rPr dirty="0" sz="3250" spc="-3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65">
                <a:solidFill>
                  <a:srgbClr val="EBFFF7"/>
                </a:solidFill>
                <a:latin typeface="Arial MT"/>
                <a:cs typeface="Arial MT"/>
              </a:rPr>
              <a:t>affordable, </a:t>
            </a:r>
            <a:r>
              <a:rPr dirty="0" sz="3250" spc="-175">
                <a:solidFill>
                  <a:srgbClr val="EBFFF7"/>
                </a:solidFill>
                <a:latin typeface="Arial MT"/>
                <a:cs typeface="Arial MT"/>
              </a:rPr>
              <a:t>accessible</a:t>
            </a:r>
            <a:r>
              <a:rPr dirty="0" sz="3250" spc="-29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65">
                <a:solidFill>
                  <a:srgbClr val="EBFFF7"/>
                </a:solidFill>
                <a:latin typeface="Arial MT"/>
                <a:cs typeface="Arial MT"/>
              </a:rPr>
              <a:t>clean</a:t>
            </a:r>
            <a:r>
              <a:rPr dirty="0" sz="3250" spc="-28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55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3250" spc="-28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10">
                <a:solidFill>
                  <a:srgbClr val="EBFFF7"/>
                </a:solidFill>
                <a:latin typeface="Arial MT"/>
                <a:cs typeface="Arial MT"/>
              </a:rPr>
              <a:t>for</a:t>
            </a:r>
            <a:r>
              <a:rPr dirty="0" sz="3250" spc="-28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EBFFF7"/>
                </a:solidFill>
                <a:latin typeface="Arial MT"/>
                <a:cs typeface="Arial MT"/>
              </a:rPr>
              <a:t>all </a:t>
            </a:r>
            <a:r>
              <a:rPr dirty="0" sz="3250" spc="-120">
                <a:solidFill>
                  <a:srgbClr val="EBFFF7"/>
                </a:solidFill>
                <a:latin typeface="Arial MT"/>
                <a:cs typeface="Arial MT"/>
              </a:rPr>
              <a:t>the</a:t>
            </a:r>
            <a:r>
              <a:rPr dirty="0" sz="3250" spc="-3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55">
                <a:solidFill>
                  <a:srgbClr val="EBFFF7"/>
                </a:solidFill>
                <a:latin typeface="Arial MT"/>
                <a:cs typeface="Arial MT"/>
              </a:rPr>
              <a:t>exact</a:t>
            </a:r>
            <a:r>
              <a:rPr dirty="0" sz="3250" spc="-3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60">
                <a:solidFill>
                  <a:srgbClr val="EBFFF7"/>
                </a:solidFill>
                <a:latin typeface="Arial MT"/>
                <a:cs typeface="Arial MT"/>
              </a:rPr>
              <a:t>aim</a:t>
            </a:r>
            <a:r>
              <a:rPr dirty="0" sz="3250" spc="-3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100">
                <a:solidFill>
                  <a:srgbClr val="EBFFF7"/>
                </a:solidFill>
                <a:latin typeface="Arial MT"/>
                <a:cs typeface="Arial MT"/>
              </a:rPr>
              <a:t>of</a:t>
            </a:r>
            <a:r>
              <a:rPr dirty="0" sz="3250" spc="-31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04">
                <a:solidFill>
                  <a:srgbClr val="EBFFF7"/>
                </a:solidFill>
                <a:latin typeface="Arial MT"/>
                <a:cs typeface="Arial MT"/>
              </a:rPr>
              <a:t>SDG</a:t>
            </a:r>
            <a:r>
              <a:rPr dirty="0" sz="3250" spc="-31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EBFFF7"/>
                </a:solidFill>
                <a:latin typeface="Arial MT"/>
                <a:cs typeface="Arial MT"/>
              </a:rPr>
              <a:t>7.</a:t>
            </a:r>
            <a:endParaRPr sz="32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1944" y="4118643"/>
            <a:ext cx="5428962" cy="43714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98622" y="4279267"/>
            <a:ext cx="4062095" cy="339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3200" spc="-85">
                <a:solidFill>
                  <a:srgbClr val="EBFFF7"/>
                </a:solidFill>
                <a:latin typeface="Arial MT"/>
                <a:cs typeface="Arial MT"/>
              </a:rPr>
              <a:t>Scalable</a:t>
            </a:r>
            <a:r>
              <a:rPr dirty="0" sz="32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BFFF7"/>
                </a:solidFill>
                <a:latin typeface="Arial MT"/>
                <a:cs typeface="Arial MT"/>
              </a:rPr>
              <a:t>&amp;</a:t>
            </a:r>
            <a:r>
              <a:rPr dirty="0" sz="32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0">
                <a:solidFill>
                  <a:srgbClr val="EBFFF7"/>
                </a:solidFill>
                <a:latin typeface="Arial MT"/>
                <a:cs typeface="Arial MT"/>
              </a:rPr>
              <a:t>low</a:t>
            </a:r>
            <a:r>
              <a:rPr dirty="0" sz="3200" spc="-10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EBFFF7"/>
                </a:solidFill>
                <a:latin typeface="Arial MT"/>
                <a:cs typeface="Arial MT"/>
              </a:rPr>
              <a:t>risk </a:t>
            </a:r>
            <a:r>
              <a:rPr dirty="0" sz="3200" spc="-55">
                <a:solidFill>
                  <a:srgbClr val="EBFFF7"/>
                </a:solidFill>
                <a:latin typeface="Arial MT"/>
                <a:cs typeface="Arial MT"/>
              </a:rPr>
              <a:t>One</a:t>
            </a:r>
            <a:r>
              <a:rPr dirty="0" sz="3200" spc="-16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0">
                <a:solidFill>
                  <a:srgbClr val="EBFFF7"/>
                </a:solidFill>
                <a:latin typeface="Arial MT"/>
                <a:cs typeface="Arial MT"/>
              </a:rPr>
              <a:t>community</a:t>
            </a:r>
            <a:r>
              <a:rPr dirty="0" sz="3200" spc="-16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EBFFF7"/>
                </a:solidFill>
                <a:latin typeface="Arial MT"/>
                <a:cs typeface="Arial MT"/>
              </a:rPr>
              <a:t>farm </a:t>
            </a:r>
            <a:r>
              <a:rPr dirty="0" sz="3200" spc="-80">
                <a:solidFill>
                  <a:srgbClr val="EBFFF7"/>
                </a:solidFill>
                <a:latin typeface="Arial MT"/>
                <a:cs typeface="Arial MT"/>
              </a:rPr>
              <a:t>serves</a:t>
            </a:r>
            <a:r>
              <a:rPr dirty="0" sz="3200" spc="-13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75">
                <a:solidFill>
                  <a:srgbClr val="EBFFF7"/>
                </a:solidFill>
                <a:latin typeface="Arial MT"/>
                <a:cs typeface="Arial MT"/>
              </a:rPr>
              <a:t>many</a:t>
            </a:r>
            <a:r>
              <a:rPr dirty="0" sz="3200" spc="-12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members, spreading</a:t>
            </a:r>
            <a:r>
              <a:rPr dirty="0" sz="32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0">
                <a:solidFill>
                  <a:srgbClr val="EBFFF7"/>
                </a:solidFill>
                <a:latin typeface="Arial MT"/>
                <a:cs typeface="Arial MT"/>
              </a:rPr>
              <a:t>cost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and</a:t>
            </a:r>
            <a:r>
              <a:rPr dirty="0" sz="3200" spc="-15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EBFFF7"/>
                </a:solidFill>
                <a:latin typeface="Arial MT"/>
                <a:cs typeface="Arial MT"/>
              </a:rPr>
              <a:t>risk </a:t>
            </a:r>
            <a:r>
              <a:rPr dirty="0" sz="3200" spc="-65">
                <a:solidFill>
                  <a:srgbClr val="EBFFF7"/>
                </a:solidFill>
                <a:latin typeface="Arial MT"/>
                <a:cs typeface="Arial MT"/>
              </a:rPr>
              <a:t>while</a:t>
            </a:r>
            <a:r>
              <a:rPr dirty="0" sz="32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EBFFF7"/>
                </a:solidFill>
                <a:latin typeface="Arial MT"/>
                <a:cs typeface="Arial MT"/>
              </a:rPr>
              <a:t>growing</a:t>
            </a:r>
            <a:r>
              <a:rPr dirty="0" sz="3200" spc="-15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clean-</a:t>
            </a:r>
            <a:r>
              <a:rPr dirty="0" sz="3200" spc="-60">
                <a:solidFill>
                  <a:srgbClr val="EBFFF7"/>
                </a:solidFill>
                <a:latin typeface="Arial MT"/>
                <a:cs typeface="Arial MT"/>
              </a:rPr>
              <a:t>energy</a:t>
            </a:r>
            <a:r>
              <a:rPr dirty="0" sz="3200" spc="-145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EBFFF7"/>
                </a:solidFill>
                <a:latin typeface="Arial MT"/>
                <a:cs typeface="Arial MT"/>
              </a:rPr>
              <a:t>capacity</a:t>
            </a:r>
            <a:r>
              <a:rPr dirty="0" sz="3200" spc="-140">
                <a:solidFill>
                  <a:srgbClr val="EBFFF7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EBFFF7"/>
                </a:solidFill>
                <a:latin typeface="Arial MT"/>
                <a:cs typeface="Arial MT"/>
              </a:rPr>
              <a:t>fast.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14627" y="992537"/>
            <a:ext cx="532765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35" b="1">
                <a:solidFill>
                  <a:srgbClr val="FFFFFF"/>
                </a:solidFill>
                <a:latin typeface="Arial"/>
                <a:cs typeface="Arial"/>
              </a:rPr>
              <a:t>Website</a:t>
            </a:r>
            <a:r>
              <a:rPr dirty="0" sz="4600" spc="-2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600" spc="-100" b="1">
                <a:solidFill>
                  <a:srgbClr val="FFFFFF"/>
                </a:solidFill>
                <a:latin typeface="Arial"/>
                <a:cs typeface="Arial"/>
              </a:rPr>
              <a:t>Screenshot</a:t>
            </a:r>
            <a:endParaRPr sz="46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180" y="2550457"/>
            <a:ext cx="13087349" cy="64293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14627" y="992537"/>
            <a:ext cx="532765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35" b="1">
                <a:solidFill>
                  <a:srgbClr val="FFFFFF"/>
                </a:solidFill>
                <a:latin typeface="Arial"/>
                <a:cs typeface="Arial"/>
              </a:rPr>
              <a:t>Website</a:t>
            </a:r>
            <a:r>
              <a:rPr dirty="0" sz="4600" spc="-2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600" spc="-100" b="1">
                <a:solidFill>
                  <a:srgbClr val="FFFFFF"/>
                </a:solidFill>
                <a:latin typeface="Arial"/>
                <a:cs typeface="Arial"/>
              </a:rPr>
              <a:t>Screenshot</a:t>
            </a:r>
            <a:endParaRPr sz="46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2247157" y="2550457"/>
            <a:ext cx="13220700" cy="6513195"/>
            <a:chOff x="2247157" y="2550457"/>
            <a:chExt cx="13220700" cy="6513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0180" y="2550457"/>
              <a:ext cx="13087349" cy="6429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7157" y="2643228"/>
              <a:ext cx="13087349" cy="64198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028687" y="2639275"/>
            <a:ext cx="1787525" cy="894080"/>
          </a:xfrm>
          <a:custGeom>
            <a:avLst/>
            <a:gdLst/>
            <a:ahLst/>
            <a:cxnLst/>
            <a:rect l="l" t="t" r="r" b="b"/>
            <a:pathLst>
              <a:path w="1787525" h="894079">
                <a:moveTo>
                  <a:pt x="893572" y="0"/>
                </a:moveTo>
                <a:lnTo>
                  <a:pt x="485609" y="723"/>
                </a:lnTo>
                <a:lnTo>
                  <a:pt x="483323" y="47421"/>
                </a:lnTo>
                <a:lnTo>
                  <a:pt x="476745" y="92875"/>
                </a:lnTo>
                <a:lnTo>
                  <a:pt x="466064" y="136855"/>
                </a:lnTo>
                <a:lnTo>
                  <a:pt x="451497" y="179184"/>
                </a:lnTo>
                <a:lnTo>
                  <a:pt x="433235" y="219633"/>
                </a:lnTo>
                <a:lnTo>
                  <a:pt x="411480" y="258025"/>
                </a:lnTo>
                <a:lnTo>
                  <a:pt x="386448" y="294132"/>
                </a:lnTo>
                <a:lnTo>
                  <a:pt x="358330" y="327774"/>
                </a:lnTo>
                <a:lnTo>
                  <a:pt x="327329" y="358724"/>
                </a:lnTo>
                <a:lnTo>
                  <a:pt x="293649" y="386803"/>
                </a:lnTo>
                <a:lnTo>
                  <a:pt x="257505" y="411797"/>
                </a:lnTo>
                <a:lnTo>
                  <a:pt x="219087" y="433501"/>
                </a:lnTo>
                <a:lnTo>
                  <a:pt x="178600" y="451713"/>
                </a:lnTo>
                <a:lnTo>
                  <a:pt x="136232" y="466229"/>
                </a:lnTo>
                <a:lnTo>
                  <a:pt x="92214" y="476859"/>
                </a:lnTo>
                <a:lnTo>
                  <a:pt x="46736" y="483374"/>
                </a:lnTo>
                <a:lnTo>
                  <a:pt x="0" y="485597"/>
                </a:lnTo>
                <a:lnTo>
                  <a:pt x="0" y="893559"/>
                </a:lnTo>
                <a:lnTo>
                  <a:pt x="47459" y="892327"/>
                </a:lnTo>
                <a:lnTo>
                  <a:pt x="94272" y="888657"/>
                </a:lnTo>
                <a:lnTo>
                  <a:pt x="140385" y="882599"/>
                </a:lnTo>
                <a:lnTo>
                  <a:pt x="185724" y="874242"/>
                </a:lnTo>
                <a:lnTo>
                  <a:pt x="230225" y="863625"/>
                </a:lnTo>
                <a:lnTo>
                  <a:pt x="273837" y="850823"/>
                </a:lnTo>
                <a:lnTo>
                  <a:pt x="316496" y="835901"/>
                </a:lnTo>
                <a:lnTo>
                  <a:pt x="358140" y="818908"/>
                </a:lnTo>
                <a:lnTo>
                  <a:pt x="398703" y="799909"/>
                </a:lnTo>
                <a:lnTo>
                  <a:pt x="438137" y="778967"/>
                </a:lnTo>
                <a:lnTo>
                  <a:pt x="476364" y="756158"/>
                </a:lnTo>
                <a:lnTo>
                  <a:pt x="513321" y="731520"/>
                </a:lnTo>
                <a:lnTo>
                  <a:pt x="548957" y="705116"/>
                </a:lnTo>
                <a:lnTo>
                  <a:pt x="583209" y="677037"/>
                </a:lnTo>
                <a:lnTo>
                  <a:pt x="616013" y="647306"/>
                </a:lnTo>
                <a:lnTo>
                  <a:pt x="647319" y="616013"/>
                </a:lnTo>
                <a:lnTo>
                  <a:pt x="677037" y="583209"/>
                </a:lnTo>
                <a:lnTo>
                  <a:pt x="705129" y="548957"/>
                </a:lnTo>
                <a:lnTo>
                  <a:pt x="731520" y="513321"/>
                </a:lnTo>
                <a:lnTo>
                  <a:pt x="756158" y="476351"/>
                </a:lnTo>
                <a:lnTo>
                  <a:pt x="778979" y="438124"/>
                </a:lnTo>
                <a:lnTo>
                  <a:pt x="799922" y="398703"/>
                </a:lnTo>
                <a:lnTo>
                  <a:pt x="818908" y="358140"/>
                </a:lnTo>
                <a:lnTo>
                  <a:pt x="835901" y="316496"/>
                </a:lnTo>
                <a:lnTo>
                  <a:pt x="850836" y="273837"/>
                </a:lnTo>
                <a:lnTo>
                  <a:pt x="863638" y="230225"/>
                </a:lnTo>
                <a:lnTo>
                  <a:pt x="874242" y="185712"/>
                </a:lnTo>
                <a:lnTo>
                  <a:pt x="882611" y="140373"/>
                </a:lnTo>
                <a:lnTo>
                  <a:pt x="888657" y="94272"/>
                </a:lnTo>
                <a:lnTo>
                  <a:pt x="892327" y="47459"/>
                </a:lnTo>
                <a:lnTo>
                  <a:pt x="893572" y="0"/>
                </a:lnTo>
                <a:close/>
              </a:path>
              <a:path w="1787525" h="894079">
                <a:moveTo>
                  <a:pt x="1787232" y="0"/>
                </a:moveTo>
                <a:lnTo>
                  <a:pt x="1379258" y="723"/>
                </a:lnTo>
                <a:lnTo>
                  <a:pt x="1376984" y="47421"/>
                </a:lnTo>
                <a:lnTo>
                  <a:pt x="1370406" y="92875"/>
                </a:lnTo>
                <a:lnTo>
                  <a:pt x="1359725" y="136855"/>
                </a:lnTo>
                <a:lnTo>
                  <a:pt x="1345158" y="179184"/>
                </a:lnTo>
                <a:lnTo>
                  <a:pt x="1326896" y="219633"/>
                </a:lnTo>
                <a:lnTo>
                  <a:pt x="1305140" y="258025"/>
                </a:lnTo>
                <a:lnTo>
                  <a:pt x="1280109" y="294132"/>
                </a:lnTo>
                <a:lnTo>
                  <a:pt x="1251991" y="327774"/>
                </a:lnTo>
                <a:lnTo>
                  <a:pt x="1220990" y="358724"/>
                </a:lnTo>
                <a:lnTo>
                  <a:pt x="1187310" y="386803"/>
                </a:lnTo>
                <a:lnTo>
                  <a:pt x="1151166" y="411797"/>
                </a:lnTo>
                <a:lnTo>
                  <a:pt x="1112748" y="433501"/>
                </a:lnTo>
                <a:lnTo>
                  <a:pt x="1072248" y="451713"/>
                </a:lnTo>
                <a:lnTo>
                  <a:pt x="1029893" y="466229"/>
                </a:lnTo>
                <a:lnTo>
                  <a:pt x="985875" y="476859"/>
                </a:lnTo>
                <a:lnTo>
                  <a:pt x="940396" y="483374"/>
                </a:lnTo>
                <a:lnTo>
                  <a:pt x="893660" y="485597"/>
                </a:lnTo>
                <a:lnTo>
                  <a:pt x="893660" y="893559"/>
                </a:lnTo>
                <a:lnTo>
                  <a:pt x="941120" y="892327"/>
                </a:lnTo>
                <a:lnTo>
                  <a:pt x="987933" y="888657"/>
                </a:lnTo>
                <a:lnTo>
                  <a:pt x="1034046" y="882599"/>
                </a:lnTo>
                <a:lnTo>
                  <a:pt x="1079385" y="874242"/>
                </a:lnTo>
                <a:lnTo>
                  <a:pt x="1123886" y="863625"/>
                </a:lnTo>
                <a:lnTo>
                  <a:pt x="1167498" y="850823"/>
                </a:lnTo>
                <a:lnTo>
                  <a:pt x="1210157" y="835901"/>
                </a:lnTo>
                <a:lnTo>
                  <a:pt x="1251800" y="818908"/>
                </a:lnTo>
                <a:lnTo>
                  <a:pt x="1292364" y="799909"/>
                </a:lnTo>
                <a:lnTo>
                  <a:pt x="1331798" y="778967"/>
                </a:lnTo>
                <a:lnTo>
                  <a:pt x="1370025" y="756158"/>
                </a:lnTo>
                <a:lnTo>
                  <a:pt x="1406982" y="731520"/>
                </a:lnTo>
                <a:lnTo>
                  <a:pt x="1442618" y="705116"/>
                </a:lnTo>
                <a:lnTo>
                  <a:pt x="1476870" y="677037"/>
                </a:lnTo>
                <a:lnTo>
                  <a:pt x="1509674" y="647306"/>
                </a:lnTo>
                <a:lnTo>
                  <a:pt x="1540979" y="616013"/>
                </a:lnTo>
                <a:lnTo>
                  <a:pt x="1570697" y="583209"/>
                </a:lnTo>
                <a:lnTo>
                  <a:pt x="1598790" y="548957"/>
                </a:lnTo>
                <a:lnTo>
                  <a:pt x="1625180" y="513321"/>
                </a:lnTo>
                <a:lnTo>
                  <a:pt x="1649818" y="476351"/>
                </a:lnTo>
                <a:lnTo>
                  <a:pt x="1672640" y="438124"/>
                </a:lnTo>
                <a:lnTo>
                  <a:pt x="1693583" y="398703"/>
                </a:lnTo>
                <a:lnTo>
                  <a:pt x="1712569" y="358140"/>
                </a:lnTo>
                <a:lnTo>
                  <a:pt x="1729562" y="316496"/>
                </a:lnTo>
                <a:lnTo>
                  <a:pt x="1744497" y="273837"/>
                </a:lnTo>
                <a:lnTo>
                  <a:pt x="1757299" y="230225"/>
                </a:lnTo>
                <a:lnTo>
                  <a:pt x="1767903" y="185712"/>
                </a:lnTo>
                <a:lnTo>
                  <a:pt x="1776272" y="140373"/>
                </a:lnTo>
                <a:lnTo>
                  <a:pt x="1782318" y="94272"/>
                </a:lnTo>
                <a:lnTo>
                  <a:pt x="1785988" y="47459"/>
                </a:lnTo>
                <a:lnTo>
                  <a:pt x="1787232" y="0"/>
                </a:lnTo>
                <a:close/>
              </a:path>
            </a:pathLst>
          </a:custGeom>
          <a:solidFill>
            <a:srgbClr val="05333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573" y="2749756"/>
            <a:ext cx="228600" cy="22859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8350" y="1028700"/>
            <a:ext cx="7600949" cy="41147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486573" y="3458264"/>
            <a:ext cx="3143250" cy="0"/>
          </a:xfrm>
          <a:custGeom>
            <a:avLst/>
            <a:gdLst/>
            <a:ahLst/>
            <a:cxnLst/>
            <a:rect l="l" t="t" r="r" b="b"/>
            <a:pathLst>
              <a:path w="3143250" h="0">
                <a:moveTo>
                  <a:pt x="0" y="0"/>
                </a:moveTo>
                <a:lnTo>
                  <a:pt x="3143076" y="0"/>
                </a:lnTo>
              </a:path>
            </a:pathLst>
          </a:custGeom>
          <a:ln w="9524">
            <a:solidFill>
              <a:srgbClr val="EBF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4647064"/>
            <a:ext cx="7677150" cy="20707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400" spc="-844"/>
              <a:t>T</a:t>
            </a:r>
            <a:r>
              <a:rPr dirty="0" sz="13400" spc="-815"/>
              <a:t>h</a:t>
            </a:r>
            <a:r>
              <a:rPr dirty="0" sz="13400" spc="-860"/>
              <a:t>a</a:t>
            </a:r>
            <a:r>
              <a:rPr dirty="0" sz="13400" spc="-815"/>
              <a:t>n</a:t>
            </a:r>
            <a:r>
              <a:rPr dirty="0" sz="13400" spc="-140"/>
              <a:t>k</a:t>
            </a:r>
            <a:r>
              <a:rPr dirty="0" sz="13400" spc="-1380"/>
              <a:t> </a:t>
            </a:r>
            <a:r>
              <a:rPr dirty="0" sz="13400" spc="-1980"/>
              <a:t>Y</a:t>
            </a:r>
            <a:r>
              <a:rPr dirty="0" sz="13400" spc="-790"/>
              <a:t>ou</a:t>
            </a:r>
            <a:r>
              <a:rPr dirty="0" sz="13400" spc="-114"/>
              <a:t>!</a:t>
            </a:r>
            <a:endParaRPr sz="134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7792612"/>
            <a:ext cx="3920726" cy="14656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Maahir</dc:creator>
  <cp:keywords>DAHVdixVxBw,BAGPfgmLtYo</cp:keywords>
  <dc:title>Low Adoption of Renewable Energy</dc:title>
  <dcterms:created xsi:type="dcterms:W3CDTF">2026-09-24T16:44:03Z</dcterms:created>
  <dcterms:modified xsi:type="dcterms:W3CDTF">2026-09-24T16:44:03Z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2026-09-24T00:00:00Z</vt:filetime>
  </property>
  <property fmtid="{D5CDD505-2E9C-101B-9397-08002B2CF9AE}" pid="6" name="Producer">
    <vt:lpwstr>Canva</vt:lpwstr>
  </property>
</Properties>
</file>